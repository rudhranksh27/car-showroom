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1-4.jpg" ContentType="image/jpg"/>
  <Override PartName="/ppt/media/image-13-1.jpg" ContentType="image/jpg"/>
  <Override PartName="/ppt/media/image-4-1.jpg" ContentType="image/jpg"/>
  <Override PartName="/ppt/media/image-5-1.jpg" ContentType="image/jpg"/>
  <Override PartName="/ppt/media/image-6-1.jpg" ContentType="image/jpg"/>
  <Override PartName="/ppt/media/image-6-2.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3" r:id="rId24"/>
    <p:sldId id="266" r:id="rId12"/>
    <p:sldId id="267" r:id="rId13"/>
    <p:sldId id="268" r:id="rId14"/>
    <p:sldId id="269" r:id="rId15"/>
    <p:sldId id="270" r:id="rId16"/>
    <p:sldId id="271" r:id="rId17"/>
    <p:sldId id="274" r:id="rId25"/>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3c9c21d-63a7-5f69-eee2-ab0efe946f9b}">
          <p14:sldIdLst>
            <p14:sldId id="256"/>
            <p14:sldId id="257"/>
            <p14:sldId id="258"/>
          </p14:sldIdLst>
        </p14:section>
        <p14:section name="The customer journey" id="{4262f94d-1619-28a0-d977-654c43af87c2}">
          <p14:sldIdLst>
            <p14:sldId id="259"/>
            <p14:sldId id="260"/>
            <p14:sldId id="261"/>
            <p14:sldId id="262"/>
            <p14:sldId id="263"/>
            <p14:sldId id="264"/>
            <p14:sldId id="265"/>
            <p14:sldId id="266"/>
          </p14:sldIdLst>
        </p14:section>
        <p14:section name="Behind the scenes" id="{0b072263-dc11-af72-5037-cdcefa33afea}">
          <p14:sldIdLst>
            <p14:sldId id="267"/>
            <p14:sldId id="268"/>
            <p14:sldId id="269"/>
          </p14:sldIdLst>
        </p14:section>
        <p14:section name="The proposal" id="{211a90a5-594b-5072-2a8f-42ae16806c2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1.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In the next 20 minutes I will show you how a customer can discover, explore, test drive and book your cars online, and how your team stays in control of everything customers see. No technical knowledge is needed. I'll only touch on how the information is stored, in one short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buyer's point of view. Ask the room: how many times does a buyer visit before deciding? Then land the point: each extra step is a place where we can lose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product in four steps. The next slides show each one with real screens from our working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 The customer narrows down by what matters to them. Notice there are no empty results: filters only offer combinations that exist in your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buyer wants in the first screen: price, whether it is available, and what to do next. The brochure is your own document, uploaded by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content your team enters once, and every customer sees it, consistently and in your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if you have the live site open: drag the car around, then change the colour. This is built from photographs, so it shows your real cars. We need a set of photos per model to switch it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look around freely, which keeps the barrier low. The moment someone tries to book a test drive or reserve a car, they are asked to log in or create an account. That means every request is tied to a real customer account, not an anonymous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for your sales team: each request arrives complete. No missing phone numbers, no double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payment amount is set by us in the system and can be agreed with you. Today it runs against the payment provider's test mode, so no real money moves in the demo. Real payments are switched on with live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customer reserves a car, a Razorpay window opens on top of our page. Razorpay is a well-known Indian payment company, and it handles the card or bank details itself. We only receive confirmation that the payment went through, and we check that confirmation before saving the booking. The screen you see here is Razorpay's test mode, which is how we demonstrate it without moving real money. Going live means switching to real Razorpay credentials in the company's own Razorpay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technical slide. Keep it to three sentences: your team enters data, it is stored in a database called MongoDB, and the website reads from it to show customers. When customers book, those bookings are stored in the same place. Nothing more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catalogue is built. The admin signs in, adds a brand, then its models, then each variant, and finally the sub-variants: the exact engine, gearbox, paint and colours a customer can choose. As soon as it is saved, customers can see it. The admin can log out at any time from the top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a price or hide a model in the admin panel and customers see the update the next time they open the page. Admins sign in with their own login and can log out from the top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benefit back to something they saw in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what exists today and what is coming. Today bookings are captured and stored. A dedicated dashboard to view and manage them is the next feature. Commercial terms are to be discussed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decision: permission to proceed with the first step, agreeing which models to start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2B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554480"/>
            <a:ext cx="5486400" cy="365760"/>
          </a:xfrm>
          <a:prstGeom prst="rect">
            <a:avLst/>
          </a:prstGeom>
          <a:noFill/>
          <a:ln/>
        </p:spPr>
        <p:txBody>
          <a:bodyPr wrap="square" lIns="0" tIns="0" rIns="0" bIns="0" rtlCol="0" anchor="t"/>
          <a:lstStyle/>
          <a:p>
            <a:pPr indent="0" marL="0">
              <a:buNone/>
            </a:pPr>
            <a:r>
              <a:rPr lang="en-US" sz="1400" b="1" spc="400" kern="0" dirty="0">
                <a:solidFill>
                  <a:schemeClr val="accent1"/>
                </a:solidFill>
              </a:rPr>
              <a:t>DIGITAL SHOWROOM PLATFORM</a:t>
            </a:r>
            <a:endParaRPr lang="en-US" sz="1400" dirty="0"/>
          </a:p>
        </p:txBody>
      </p:sp>
      <p:sp>
        <p:nvSpPr>
          <p:cNvPr id="3" name="Text 1"/>
          <p:cNvSpPr txBox="1"/>
          <p:nvPr/>
        </p:nvSpPr>
        <p:spPr>
          <a:xfrm>
            <a:off x="640080" y="2011680"/>
            <a:ext cx="5669280" cy="1005840"/>
          </a:xfrm>
          <a:prstGeom prst="rect">
            <a:avLst/>
          </a:prstGeom>
          <a:noFill/>
          <a:ln/>
        </p:spPr>
        <p:txBody>
          <a:bodyPr wrap="square" lIns="0" tIns="0" rIns="0" bIns="0" rtlCol="0" anchor="t"/>
          <a:lstStyle/>
          <a:p>
            <a:pPr indent="0" marL="0">
              <a:buNone/>
            </a:pPr>
            <a:r>
              <a:rPr lang="en-US" sz="5600" b="1" dirty="0">
                <a:solidFill>
                  <a:schemeClr val="bg1"/>
                </a:solidFill>
              </a:rPr>
              <a:t>VirtualDrive</a:t>
            </a:r>
            <a:endParaRPr lang="en-US" sz="5600" dirty="0"/>
          </a:p>
        </p:txBody>
      </p:sp>
      <p:sp>
        <p:nvSpPr>
          <p:cNvPr id="4" name="Text 2"/>
          <p:cNvSpPr txBox="1"/>
          <p:nvPr/>
        </p:nvSpPr>
        <p:spPr>
          <a:xfrm>
            <a:off x="640080" y="3200400"/>
            <a:ext cx="5120640" cy="960120"/>
          </a:xfrm>
          <a:prstGeom prst="rect">
            <a:avLst/>
          </a:prstGeom>
          <a:noFill/>
          <a:ln/>
        </p:spPr>
        <p:txBody>
          <a:bodyPr wrap="square" lIns="0" tIns="0" rIns="0" bIns="0" rtlCol="0" anchor="t"/>
          <a:lstStyle/>
          <a:p>
            <a:pPr indent="0" marL="0">
              <a:buNone/>
            </a:pPr>
            <a:r>
              <a:rPr lang="en-US" sz="2400" dirty="0">
                <a:solidFill>
                  <a:srgbClr val="A9C2B9"/>
                </a:solidFill>
              </a:rPr>
              <a:t>Your cars, available online: from the first look to a booked car</a:t>
            </a:r>
            <a:endParaRPr lang="en-US" sz="2400" dirty="0"/>
          </a:p>
        </p:txBody>
      </p:sp>
      <p:sp>
        <p:nvSpPr>
          <p:cNvPr id="5" name="product page frame"/>
          <p:cNvSpPr/>
          <p:nvPr/>
        </p:nvSpPr>
        <p:spPr>
          <a:xfrm>
            <a:off x="6400800" y="1920240"/>
            <a:ext cx="5303520" cy="2784495"/>
          </a:xfrm>
          <a:prstGeom prst="roundRect">
            <a:avLst>
              <a:gd name="adj" fmla="val 3941"/>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txBody>
          <a:bodyPr/>
          <a:p/>
        </p:txBody>
      </p:sp>
      <p:pic>
        <p:nvPicPr>
          <p:cNvPr id="6" name="product page" descr="A car page on VirtualDrive showing price, stock status and a Book Test Drive button">    </p:cNvPr>
          <p:cNvPicPr>
            <a:picLocks noChangeAspect="1"/>
          </p:cNvPicPr>
          <p:nvPr/>
        </p:nvPicPr>
        <p:blipFill>
          <a:blip r:embed="rId1"/>
          <a:stretch>
            <a:fillRect/>
          </a:stretch>
        </p:blipFill>
        <p:spPr>
          <a:xfrm>
            <a:off x="6492240" y="2011680"/>
            <a:ext cx="5120640" cy="2601615"/>
          </a:xfrm>
          <a:prstGeom prst="rect">
            <a:avLst/>
          </a:prstGeom>
        </p:spPr>
      </p:pic>
      <p:sp>
        <p:nvSpPr>
          <p:cNvPr id="7" name="Rectangle 6"/>
          <p:cNvSpPr/>
          <p:nvPr/>
        </p:nvSpPr>
        <p:spPr>
          <a:xfrm>
            <a:off x="640080" y="1371600"/>
            <a:ext cx="640080" cy="45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943600"/>
            <a:ext cx="5486400" cy="274320"/>
          </a:xfrm>
          <a:prstGeom prst="rect">
            <a:avLst/>
          </a:prstGeom>
          <a:noFill/>
        </p:spPr>
        <p:txBody>
          <a:bodyPr wrap="none" lIns="0" tIns="0" rIns="0" bIns="0">
            <a:spAutoFit/>
          </a:bodyPr>
          <a:lstStyle/>
          <a:p>
            <a:r>
              <a:rPr sz="1200" b="1" spc="300">
                <a:solidFill>
                  <a:srgbClr val="A9C2B9"/>
                </a:solidFill>
              </a:rPr>
              <a:t>PRODUCT OVERVIEW  |  OCTOBER 2026</a:t>
            </a:r>
          </a:p>
        </p:txBody>
      </p:sp>
      <p:sp>
        <p:nvSpPr>
          <p:cNvPr id="9" name="Rectangle 8"/>
          <p:cNvSpPr/>
          <p:nvPr/>
        </p:nvSpPr>
        <p:spPr>
          <a:xfrm>
            <a:off x="640080" y="4343400"/>
            <a:ext cx="5486400" cy="9144"/>
          </a:xfrm>
          <a:prstGeom prst="rect">
            <a:avLst/>
          </a:prstGeom>
          <a:solidFill>
            <a:srgbClr val="2F5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480560"/>
            <a:ext cx="5486400" cy="228600"/>
          </a:xfrm>
          <a:prstGeom prst="rect">
            <a:avLst/>
          </a:prstGeom>
          <a:noFill/>
        </p:spPr>
        <p:txBody>
          <a:bodyPr wrap="square" lIns="0" rIns="0" tIns="0" bIns="0">
            <a:spAutoFit/>
          </a:bodyPr>
          <a:lstStyle/>
          <a:p>
            <a:r>
              <a:rPr sz="1100" b="1" spc="300">
                <a:solidFill>
                  <a:srgbClr val="FFC629"/>
                </a:solidFill>
              </a:rPr>
              <a:t>INSIDE THIS PRESENTATION</a:t>
            </a:r>
          </a:p>
        </p:txBody>
      </p:sp>
      <p:sp>
        <p:nvSpPr>
          <p:cNvPr id="11" name="TextBox 10"/>
          <p:cNvSpPr txBox="1"/>
          <p:nvPr/>
        </p:nvSpPr>
        <p:spPr>
          <a:xfrm>
            <a:off x="640080" y="4800600"/>
            <a:ext cx="2743200" cy="274320"/>
          </a:xfrm>
          <a:prstGeom prst="rect">
            <a:avLst/>
          </a:prstGeom>
          <a:noFill/>
        </p:spPr>
        <p:txBody>
          <a:bodyPr wrap="square" lIns="0" rIns="0" tIns="0" bIns="0">
            <a:spAutoFit/>
          </a:bodyPr>
          <a:lstStyle/>
          <a:p>
            <a:r>
              <a:rPr sz="1300" b="1">
                <a:solidFill>
                  <a:srgbClr val="FFC629"/>
                </a:solidFill>
              </a:rPr>
              <a:t>01   </a:t>
            </a:r>
            <a:r>
              <a:rPr sz="1300" b="0">
                <a:solidFill>
                  <a:srgbClr val="FFFFFF"/>
                </a:solidFill>
              </a:rPr>
              <a:t>The challenge</a:t>
            </a:r>
          </a:p>
        </p:txBody>
      </p:sp>
      <p:sp>
        <p:nvSpPr>
          <p:cNvPr id="12" name="TextBox 11"/>
          <p:cNvSpPr txBox="1"/>
          <p:nvPr/>
        </p:nvSpPr>
        <p:spPr>
          <a:xfrm>
            <a:off x="640080" y="5097780"/>
            <a:ext cx="2743200" cy="274320"/>
          </a:xfrm>
          <a:prstGeom prst="rect">
            <a:avLst/>
          </a:prstGeom>
          <a:noFill/>
        </p:spPr>
        <p:txBody>
          <a:bodyPr wrap="square" lIns="0" rIns="0" tIns="0" bIns="0">
            <a:spAutoFit/>
          </a:bodyPr>
          <a:lstStyle/>
          <a:p>
            <a:r>
              <a:rPr sz="1300" b="1">
                <a:solidFill>
                  <a:srgbClr val="FFC629"/>
                </a:solidFill>
              </a:rPr>
              <a:t>02   </a:t>
            </a:r>
            <a:r>
              <a:rPr sz="1300" b="0">
                <a:solidFill>
                  <a:srgbClr val="FFFFFF"/>
                </a:solidFill>
              </a:rPr>
              <a:t>The VirtualDrive solution</a:t>
            </a:r>
          </a:p>
        </p:txBody>
      </p:sp>
      <p:sp>
        <p:nvSpPr>
          <p:cNvPr id="13" name="TextBox 12"/>
          <p:cNvSpPr txBox="1"/>
          <p:nvPr/>
        </p:nvSpPr>
        <p:spPr>
          <a:xfrm>
            <a:off x="640080" y="5394960"/>
            <a:ext cx="2743200" cy="274320"/>
          </a:xfrm>
          <a:prstGeom prst="rect">
            <a:avLst/>
          </a:prstGeom>
          <a:noFill/>
        </p:spPr>
        <p:txBody>
          <a:bodyPr wrap="square" lIns="0" rIns="0" tIns="0" bIns="0">
            <a:spAutoFit/>
          </a:bodyPr>
          <a:lstStyle/>
          <a:p>
            <a:r>
              <a:rPr sz="1300" b="1">
                <a:solidFill>
                  <a:srgbClr val="FFC629"/>
                </a:solidFill>
              </a:rPr>
              <a:t>03   </a:t>
            </a:r>
            <a:r>
              <a:rPr sz="1300" b="0">
                <a:solidFill>
                  <a:srgbClr val="FFFFFF"/>
                </a:solidFill>
              </a:rPr>
              <a:t>The customer journey</a:t>
            </a:r>
          </a:p>
        </p:txBody>
      </p:sp>
      <p:sp>
        <p:nvSpPr>
          <p:cNvPr id="14" name="TextBox 13"/>
          <p:cNvSpPr txBox="1"/>
          <p:nvPr/>
        </p:nvSpPr>
        <p:spPr>
          <a:xfrm>
            <a:off x="3474720" y="4800600"/>
            <a:ext cx="2743200" cy="274320"/>
          </a:xfrm>
          <a:prstGeom prst="rect">
            <a:avLst/>
          </a:prstGeom>
          <a:noFill/>
        </p:spPr>
        <p:txBody>
          <a:bodyPr wrap="square" lIns="0" rIns="0" tIns="0" bIns="0">
            <a:spAutoFit/>
          </a:bodyPr>
          <a:lstStyle/>
          <a:p>
            <a:r>
              <a:rPr sz="1300" b="1">
                <a:solidFill>
                  <a:srgbClr val="FFC629"/>
                </a:solidFill>
              </a:rPr>
              <a:t>04   </a:t>
            </a:r>
            <a:r>
              <a:rPr sz="1300" b="0">
                <a:solidFill>
                  <a:srgbClr val="FFFFFF"/>
                </a:solidFill>
              </a:rPr>
              <a:t>Your team’s control</a:t>
            </a:r>
          </a:p>
        </p:txBody>
      </p:sp>
      <p:sp>
        <p:nvSpPr>
          <p:cNvPr id="15" name="TextBox 14"/>
          <p:cNvSpPr txBox="1"/>
          <p:nvPr/>
        </p:nvSpPr>
        <p:spPr>
          <a:xfrm>
            <a:off x="3474720" y="5097780"/>
            <a:ext cx="2743200" cy="274320"/>
          </a:xfrm>
          <a:prstGeom prst="rect">
            <a:avLst/>
          </a:prstGeom>
          <a:noFill/>
        </p:spPr>
        <p:txBody>
          <a:bodyPr wrap="square" lIns="0" rIns="0" tIns="0" bIns="0">
            <a:spAutoFit/>
          </a:bodyPr>
          <a:lstStyle/>
          <a:p>
            <a:r>
              <a:rPr sz="1300" b="1">
                <a:solidFill>
                  <a:srgbClr val="FFC629"/>
                </a:solidFill>
              </a:rPr>
              <a:t>05   </a:t>
            </a:r>
            <a:r>
              <a:rPr sz="1300" b="0">
                <a:solidFill>
                  <a:srgbClr val="FFFFFF"/>
                </a:solidFill>
              </a:rPr>
              <a:t>Getting started</a:t>
            </a:r>
          </a:p>
        </p:txBody>
      </p:sp>
      <p:sp>
        <p:nvSpPr>
          <p:cNvPr id="16" name="TextBox 15"/>
          <p:cNvSpPr txBox="1"/>
          <p:nvPr/>
        </p:nvSpPr>
        <p:spPr>
          <a:xfrm>
            <a:off x="3474720" y="5394960"/>
            <a:ext cx="2743200" cy="274320"/>
          </a:xfrm>
          <a:prstGeom prst="rect">
            <a:avLst/>
          </a:prstGeom>
          <a:noFill/>
        </p:spPr>
        <p:txBody>
          <a:bodyPr wrap="square" lIns="0" rIns="0" tIns="0" bIns="0">
            <a:spAutoFit/>
          </a:bodyPr>
          <a:lstStyle/>
          <a:p>
            <a:r>
              <a:rPr sz="1300" b="1">
                <a:solidFill>
                  <a:srgbClr val="FFC629"/>
                </a:solidFill>
              </a:rPr>
              <a:t>06   </a:t>
            </a:r>
            <a:r>
              <a:rPr sz="1300" b="0">
                <a:solidFill>
                  <a:srgbClr val="FFFFFF"/>
                </a:solidFill>
              </a:rPr>
              <a:t>Future scope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Buying a car still takes too many steps</a:t>
            </a:r>
            <a:endParaRPr lang="en-US" sz="3400" dirty="0"/>
          </a:p>
        </p:txBody>
      </p:sp>
      <p:sp>
        <p:nvSpPr>
          <p:cNvPr id="3" name="pain card 1"/>
          <p:cNvSpPr/>
          <p:nvPr/>
        </p:nvSpPr>
        <p:spPr>
          <a:xfrm>
            <a:off x="548640" y="1554480"/>
            <a:ext cx="3520440" cy="3017520"/>
          </a:xfrm>
          <a:prstGeom prst="roundRect">
            <a:avLst>
              <a:gd name="adj" fmla="val 424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pain icon 1 bg"/>
          <p:cNvSpPr/>
          <p:nvPr/>
        </p:nvSpPr>
        <p:spPr>
          <a:xfrm>
            <a:off x="868680" y="1828800"/>
            <a:ext cx="731520" cy="731520"/>
          </a:xfrm>
          <a:prstGeom prst="ellipse">
            <a:avLst/>
          </a:prstGeom>
          <a:solidFill>
            <a:srgbClr val="1B4D3E"/>
          </a:solidFill>
          <a:ln w="12700">
            <a:solidFill>
              <a:srgbClr val="1B4D3E"/>
            </a:solidFill>
            <a:prstDash val="solid"/>
          </a:ln>
        </p:spPr>
      </p:sp>
      <p:pic>
        <p:nvPicPr>
          <p:cNvPr id="5" name="pain icon 1" descr="FiMapPin">    </p:cNvPr>
          <p:cNvPicPr>
            <a:picLocks noChangeAspect="1"/>
          </p:cNvPicPr>
          <p:nvPr/>
        </p:nvPicPr>
        <p:blipFill>
          <a:blip r:embed="rId1"/>
          <a:stretch>
            <a:fillRect/>
          </a:stretch>
        </p:blipFill>
        <p:spPr>
          <a:xfrm>
            <a:off x="1058875" y="2018995"/>
            <a:ext cx="351130" cy="351130"/>
          </a:xfrm>
          <a:prstGeom prst="rect">
            <a:avLst/>
          </a:prstGeom>
        </p:spPr>
      </p:pic>
      <p:sp>
        <p:nvSpPr>
          <p:cNvPr id="6" name="Text 3"/>
          <p:cNvSpPr txBox="1"/>
          <p:nvPr/>
        </p:nvSpPr>
        <p:spPr>
          <a:xfrm>
            <a:off x="86868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Many showroom visits</a:t>
            </a:r>
            <a:endParaRPr lang="en-US" sz="2200" dirty="0"/>
          </a:p>
        </p:txBody>
      </p:sp>
      <p:sp>
        <p:nvSpPr>
          <p:cNvPr id="7" name="Text 4"/>
          <p:cNvSpPr txBox="1"/>
          <p:nvPr/>
        </p:nvSpPr>
        <p:spPr>
          <a:xfrm>
            <a:off x="868680" y="3291840"/>
            <a:ext cx="2926080" cy="1097280"/>
          </a:xfrm>
          <a:prstGeom prst="rect">
            <a:avLst/>
          </a:prstGeom>
          <a:noFill/>
          <a:ln/>
        </p:spPr>
        <p:txBody>
          <a:bodyPr wrap="square" lIns="0" tIns="0" rIns="0" bIns="0" rtlCol="0" anchor="t"/>
          <a:lstStyle/>
          <a:p>
            <a:pPr indent="0" marL="0">
              <a:buNone/>
            </a:pPr>
            <a:r>
              <a:rPr lang="en-US" sz="1600" dirty="0">
                <a:solidFill>
                  <a:schemeClr val="tx2"/>
                </a:solidFill>
              </a:rPr>
              <a:t>Buyers travel to see, compare and ask the same questions again and again.</a:t>
            </a:r>
            <a:endParaRPr lang="en-US" sz="1600" dirty="0"/>
          </a:p>
        </p:txBody>
      </p:sp>
      <p:sp>
        <p:nvSpPr>
          <p:cNvPr id="8" name="pain card 2"/>
          <p:cNvSpPr/>
          <p:nvPr/>
        </p:nvSpPr>
        <p:spPr>
          <a:xfrm>
            <a:off x="4297680" y="1554480"/>
            <a:ext cx="3520440" cy="3017520"/>
          </a:xfrm>
          <a:prstGeom prst="roundRect">
            <a:avLst>
              <a:gd name="adj" fmla="val 424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pain icon 2 bg"/>
          <p:cNvSpPr/>
          <p:nvPr/>
        </p:nvSpPr>
        <p:spPr>
          <a:xfrm>
            <a:off x="4617720" y="1828800"/>
            <a:ext cx="731520" cy="731520"/>
          </a:xfrm>
          <a:prstGeom prst="ellipse">
            <a:avLst/>
          </a:prstGeom>
          <a:solidFill>
            <a:srgbClr val="1B4D3E"/>
          </a:solidFill>
          <a:ln w="12700">
            <a:solidFill>
              <a:srgbClr val="1B4D3E"/>
            </a:solidFill>
            <a:prstDash val="solid"/>
          </a:ln>
        </p:spPr>
      </p:sp>
      <p:pic>
        <p:nvPicPr>
          <p:cNvPr id="10" name="pain icon 2" descr="FiHelpCircle">    </p:cNvPr>
          <p:cNvPicPr>
            <a:picLocks noChangeAspect="1"/>
          </p:cNvPicPr>
          <p:nvPr/>
        </p:nvPicPr>
        <p:blipFill>
          <a:blip r:embed="rId2"/>
          <a:stretch>
            <a:fillRect/>
          </a:stretch>
        </p:blipFill>
        <p:spPr>
          <a:xfrm>
            <a:off x="4807915" y="2018995"/>
            <a:ext cx="351130" cy="351130"/>
          </a:xfrm>
          <a:prstGeom prst="rect">
            <a:avLst/>
          </a:prstGeom>
        </p:spPr>
      </p:pic>
      <p:sp>
        <p:nvSpPr>
          <p:cNvPr id="11" name="Text 7"/>
          <p:cNvSpPr txBox="1"/>
          <p:nvPr/>
        </p:nvSpPr>
        <p:spPr>
          <a:xfrm>
            <a:off x="461772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Unclear final price</a:t>
            </a:r>
            <a:endParaRPr lang="en-US" sz="2200" dirty="0"/>
          </a:p>
        </p:txBody>
      </p:sp>
      <p:sp>
        <p:nvSpPr>
          <p:cNvPr id="12" name="Text 8"/>
          <p:cNvSpPr txBox="1"/>
          <p:nvPr/>
        </p:nvSpPr>
        <p:spPr>
          <a:xfrm>
            <a:off x="4617720" y="3291840"/>
            <a:ext cx="2926080" cy="1097280"/>
          </a:xfrm>
          <a:prstGeom prst="rect">
            <a:avLst/>
          </a:prstGeom>
          <a:noFill/>
          <a:ln/>
        </p:spPr>
        <p:txBody>
          <a:bodyPr wrap="square" lIns="0" tIns="0" rIns="0" bIns="0" rtlCol="0" anchor="t"/>
          <a:lstStyle/>
          <a:p>
            <a:pPr indent="0" marL="0">
              <a:buNone/>
            </a:pPr>
            <a:r>
              <a:rPr lang="en-US" sz="1600" dirty="0">
                <a:solidFill>
                  <a:schemeClr val="tx2"/>
                </a:solidFill>
              </a:rPr>
              <a:t>The number on the brochure is rarely the number on the bill.</a:t>
            </a:r>
            <a:endParaRPr lang="en-US" sz="1600" dirty="0"/>
          </a:p>
        </p:txBody>
      </p:sp>
      <p:sp>
        <p:nvSpPr>
          <p:cNvPr id="13" name="pain card 3"/>
          <p:cNvSpPr/>
          <p:nvPr/>
        </p:nvSpPr>
        <p:spPr>
          <a:xfrm>
            <a:off x="8046720" y="1554480"/>
            <a:ext cx="3520440" cy="3017520"/>
          </a:xfrm>
          <a:prstGeom prst="roundRect">
            <a:avLst>
              <a:gd name="adj" fmla="val 424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pain icon 3 bg"/>
          <p:cNvSpPr/>
          <p:nvPr/>
        </p:nvSpPr>
        <p:spPr>
          <a:xfrm>
            <a:off x="8366760" y="1828800"/>
            <a:ext cx="731520" cy="731520"/>
          </a:xfrm>
          <a:prstGeom prst="ellipse">
            <a:avLst/>
          </a:prstGeom>
          <a:solidFill>
            <a:srgbClr val="1B4D3E"/>
          </a:solidFill>
          <a:ln w="12700">
            <a:solidFill>
              <a:srgbClr val="1B4D3E"/>
            </a:solidFill>
            <a:prstDash val="solid"/>
          </a:ln>
        </p:spPr>
      </p:sp>
      <p:pic>
        <p:nvPicPr>
          <p:cNvPr id="15" name="pain icon 3" descr="FiPhoneCall">    </p:cNvPr>
          <p:cNvPicPr>
            <a:picLocks noChangeAspect="1"/>
          </p:cNvPicPr>
          <p:nvPr/>
        </p:nvPicPr>
        <p:blipFill>
          <a:blip r:embed="rId3"/>
          <a:stretch>
            <a:fillRect/>
          </a:stretch>
        </p:blipFill>
        <p:spPr>
          <a:xfrm>
            <a:off x="8556955" y="2018995"/>
            <a:ext cx="351130" cy="351130"/>
          </a:xfrm>
          <a:prstGeom prst="rect">
            <a:avLst/>
          </a:prstGeom>
        </p:spPr>
      </p:pic>
      <p:sp>
        <p:nvSpPr>
          <p:cNvPr id="16" name="Text 11"/>
          <p:cNvSpPr txBox="1"/>
          <p:nvPr/>
        </p:nvSpPr>
        <p:spPr>
          <a:xfrm>
            <a:off x="8366760" y="2743200"/>
            <a:ext cx="2926080" cy="457200"/>
          </a:xfrm>
          <a:prstGeom prst="rect">
            <a:avLst/>
          </a:prstGeom>
          <a:noFill/>
          <a:ln/>
        </p:spPr>
        <p:txBody>
          <a:bodyPr wrap="square" lIns="0" tIns="0" rIns="0" bIns="0" rtlCol="0" anchor="t"/>
          <a:lstStyle/>
          <a:p>
            <a:pPr indent="0" marL="0">
              <a:buNone/>
            </a:pPr>
            <a:r>
              <a:rPr lang="en-US" sz="2200" b="1" dirty="0">
                <a:solidFill>
                  <a:schemeClr val="tx1"/>
                </a:solidFill>
              </a:rPr>
              <a:t>Test drives by phone</a:t>
            </a:r>
            <a:endParaRPr lang="en-US" sz="2200" dirty="0"/>
          </a:p>
        </p:txBody>
      </p:sp>
      <p:sp>
        <p:nvSpPr>
          <p:cNvPr id="17" name="Text 12"/>
          <p:cNvSpPr txBox="1"/>
          <p:nvPr/>
        </p:nvSpPr>
        <p:spPr>
          <a:xfrm>
            <a:off x="8366760" y="3291840"/>
            <a:ext cx="2926080" cy="1097280"/>
          </a:xfrm>
          <a:prstGeom prst="rect">
            <a:avLst/>
          </a:prstGeom>
          <a:noFill/>
          <a:ln/>
        </p:spPr>
        <p:txBody>
          <a:bodyPr wrap="square" lIns="0" tIns="0" rIns="0" bIns="0" rtlCol="0" anchor="t"/>
          <a:lstStyle/>
          <a:p>
            <a:pPr indent="0" marL="0">
              <a:buNone/>
            </a:pPr>
            <a:r>
              <a:rPr lang="en-US" sz="1600" dirty="0">
                <a:solidFill>
                  <a:schemeClr val="tx2"/>
                </a:solidFill>
              </a:rPr>
              <a:t>Calls, callbacks and waiting just to fix a time to drive.</a:t>
            </a:r>
            <a:endParaRPr lang="en-US" sz="1600" dirty="0"/>
          </a:p>
        </p:txBody>
      </p:sp>
      <p:sp>
        <p:nvSpPr>
          <p:cNvPr id="18" name="so what"/>
          <p:cNvSpPr/>
          <p:nvPr/>
        </p:nvSpPr>
        <p:spPr>
          <a:xfrm>
            <a:off x="548640" y="4937760"/>
            <a:ext cx="11064240" cy="1005840"/>
          </a:xfrm>
          <a:prstGeom prst="roundRect">
            <a:avLst>
              <a:gd name="adj" fmla="val 12727"/>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19" name="Text 14"/>
          <p:cNvSpPr txBox="1"/>
          <p:nvPr/>
        </p:nvSpPr>
        <p:spPr>
          <a:xfrm>
            <a:off x="868680" y="4937760"/>
            <a:ext cx="10424160" cy="1005840"/>
          </a:xfrm>
          <a:prstGeom prst="rect">
            <a:avLst/>
          </a:prstGeom>
          <a:noFill/>
          <a:ln/>
        </p:spPr>
        <p:txBody>
          <a:bodyPr wrap="square" lIns="0" tIns="0" rIns="0" bIns="0" rtlCol="0" anchor="ctr"/>
          <a:lstStyle/>
          <a:p>
            <a:pPr indent="0" marL="0">
              <a:buNone/>
            </a:pPr>
            <a:r>
              <a:rPr lang="en-US" sz="2200" b="1" dirty="0">
                <a:solidFill>
                  <a:schemeClr val="bg1"/>
                </a:solidFill>
              </a:rPr>
              <a:t>Every extra step is a chance for a serious buyer to give up. We remove the steps.</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VirtualDrive is a digital showroom for your cars</a:t>
            </a:r>
            <a:endParaRPr lang="en-US" sz="3400" dirty="0"/>
          </a:p>
        </p:txBody>
      </p:sp>
      <p:sp>
        <p:nvSpPr>
          <p:cNvPr id="3" name="idea card 1"/>
          <p:cNvSpPr/>
          <p:nvPr/>
        </p:nvSpPr>
        <p:spPr>
          <a:xfrm>
            <a:off x="548640" y="1645920"/>
            <a:ext cx="2606040" cy="320040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idea icon 1 bg"/>
          <p:cNvSpPr/>
          <p:nvPr/>
        </p:nvSpPr>
        <p:spPr>
          <a:xfrm>
            <a:off x="868680" y="1920240"/>
            <a:ext cx="731520" cy="731520"/>
          </a:xfrm>
          <a:prstGeom prst="ellipse">
            <a:avLst/>
          </a:prstGeom>
          <a:solidFill>
            <a:srgbClr val="1B8A6B"/>
          </a:solidFill>
          <a:ln w="12700">
            <a:solidFill>
              <a:srgbClr val="1B8A6B"/>
            </a:solidFill>
            <a:prstDash val="solid"/>
          </a:ln>
        </p:spPr>
      </p:sp>
      <p:pic>
        <p:nvPicPr>
          <p:cNvPr id="5" name="idea icon 1" descr="FiSearch">    </p:cNvPr>
          <p:cNvPicPr>
            <a:picLocks noChangeAspect="1"/>
          </p:cNvPicPr>
          <p:nvPr/>
        </p:nvPicPr>
        <p:blipFill>
          <a:blip r:embed="rId1"/>
          <a:stretch>
            <a:fillRect/>
          </a:stretch>
        </p:blipFill>
        <p:spPr>
          <a:xfrm>
            <a:off x="1058875" y="2110435"/>
            <a:ext cx="351130" cy="351130"/>
          </a:xfrm>
          <a:prstGeom prst="rect">
            <a:avLst/>
          </a:prstGeom>
        </p:spPr>
      </p:pic>
      <p:sp>
        <p:nvSpPr>
          <p:cNvPr id="6" name="Text 3"/>
          <p:cNvSpPr txBox="1"/>
          <p:nvPr/>
        </p:nvSpPr>
        <p:spPr>
          <a:xfrm>
            <a:off x="868680" y="2926080"/>
            <a:ext cx="2103120" cy="457200"/>
          </a:xfrm>
          <a:prstGeom prst="rect">
            <a:avLst/>
          </a:prstGeom>
          <a:noFill/>
          <a:ln/>
        </p:spPr>
        <p:txBody>
          <a:bodyPr wrap="square" lIns="0" tIns="0" rIns="0" bIns="0" rtlCol="0" anchor="t"/>
          <a:lstStyle/>
          <a:p>
            <a:pPr indent="0" marL="0">
              <a:buNone/>
            </a:pPr>
            <a:r>
              <a:rPr lang="en-US" sz="2200" b="1" dirty="0">
                <a:solidFill>
                  <a:schemeClr val="tx1"/>
                </a:solidFill>
              </a:rPr>
              <a:t>1  Discover</a:t>
            </a:r>
            <a:endParaRPr lang="en-US" sz="2200" dirty="0"/>
          </a:p>
        </p:txBody>
      </p:sp>
      <p:sp>
        <p:nvSpPr>
          <p:cNvPr id="7" name="Text 4"/>
          <p:cNvSpPr txBox="1"/>
          <p:nvPr/>
        </p:nvSpPr>
        <p:spPr>
          <a:xfrm>
            <a:off x="868680" y="3474720"/>
            <a:ext cx="2011680" cy="1280160"/>
          </a:xfrm>
          <a:prstGeom prst="rect">
            <a:avLst/>
          </a:prstGeom>
          <a:noFill/>
          <a:ln/>
        </p:spPr>
        <p:txBody>
          <a:bodyPr wrap="square" lIns="0" tIns="0" rIns="0" bIns="0" rtlCol="0" anchor="t"/>
          <a:lstStyle/>
          <a:p>
            <a:pPr indent="0" marL="0">
              <a:buNone/>
            </a:pPr>
            <a:r>
              <a:rPr lang="en-US" sz="1600" dirty="0">
                <a:solidFill>
                  <a:schemeClr val="tx2"/>
                </a:solidFill>
              </a:rPr>
              <a:t>Find the right car by budget, fuel and body type</a:t>
            </a:r>
            <a:endParaRPr lang="en-US" sz="1600" dirty="0"/>
          </a:p>
        </p:txBody>
      </p:sp>
      <p:sp>
        <p:nvSpPr>
          <p:cNvPr id="8" name="idea card 2"/>
          <p:cNvSpPr/>
          <p:nvPr/>
        </p:nvSpPr>
        <p:spPr>
          <a:xfrm>
            <a:off x="3364992" y="1645920"/>
            <a:ext cx="2606040" cy="320040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idea icon 2 bg"/>
          <p:cNvSpPr/>
          <p:nvPr/>
        </p:nvSpPr>
        <p:spPr>
          <a:xfrm>
            <a:off x="3685032" y="1920240"/>
            <a:ext cx="731520" cy="731520"/>
          </a:xfrm>
          <a:prstGeom prst="ellipse">
            <a:avLst/>
          </a:prstGeom>
          <a:solidFill>
            <a:srgbClr val="1B8A6B"/>
          </a:solidFill>
          <a:ln w="12700">
            <a:solidFill>
              <a:srgbClr val="1B8A6B"/>
            </a:solidFill>
            <a:prstDash val="solid"/>
          </a:ln>
        </p:spPr>
      </p:sp>
      <p:pic>
        <p:nvPicPr>
          <p:cNvPr id="10" name="idea icon 2" descr="FiRotateCw">    </p:cNvPr>
          <p:cNvPicPr>
            <a:picLocks noChangeAspect="1"/>
          </p:cNvPicPr>
          <p:nvPr/>
        </p:nvPicPr>
        <p:blipFill>
          <a:blip r:embed="rId2"/>
          <a:stretch>
            <a:fillRect/>
          </a:stretch>
        </p:blipFill>
        <p:spPr>
          <a:xfrm>
            <a:off x="3875227" y="2110435"/>
            <a:ext cx="351130" cy="351130"/>
          </a:xfrm>
          <a:prstGeom prst="rect">
            <a:avLst/>
          </a:prstGeom>
        </p:spPr>
      </p:pic>
      <p:sp>
        <p:nvSpPr>
          <p:cNvPr id="11" name="Text 7"/>
          <p:cNvSpPr txBox="1"/>
          <p:nvPr/>
        </p:nvSpPr>
        <p:spPr>
          <a:xfrm>
            <a:off x="3685032" y="2926080"/>
            <a:ext cx="2103120" cy="457200"/>
          </a:xfrm>
          <a:prstGeom prst="rect">
            <a:avLst/>
          </a:prstGeom>
          <a:noFill/>
          <a:ln/>
        </p:spPr>
        <p:txBody>
          <a:bodyPr wrap="square" lIns="0" tIns="0" rIns="0" bIns="0" rtlCol="0" anchor="t"/>
          <a:lstStyle/>
          <a:p>
            <a:pPr indent="0" marL="0">
              <a:buNone/>
            </a:pPr>
            <a:r>
              <a:rPr lang="en-US" sz="2200" b="1" dirty="0">
                <a:solidFill>
                  <a:schemeClr val="tx1"/>
                </a:solidFill>
              </a:rPr>
              <a:t>2  Explore</a:t>
            </a:r>
            <a:endParaRPr lang="en-US" sz="2200" dirty="0"/>
          </a:p>
        </p:txBody>
      </p:sp>
      <p:sp>
        <p:nvSpPr>
          <p:cNvPr id="12" name="Text 8"/>
          <p:cNvSpPr txBox="1"/>
          <p:nvPr/>
        </p:nvSpPr>
        <p:spPr>
          <a:xfrm>
            <a:off x="3685032" y="3474720"/>
            <a:ext cx="2011680" cy="1280160"/>
          </a:xfrm>
          <a:prstGeom prst="rect">
            <a:avLst/>
          </a:prstGeom>
          <a:noFill/>
          <a:ln/>
        </p:spPr>
        <p:txBody>
          <a:bodyPr wrap="square" lIns="0" tIns="0" rIns="0" bIns="0" rtlCol="0" anchor="t"/>
          <a:lstStyle/>
          <a:p>
            <a:pPr indent="0" marL="0">
              <a:buNone/>
            </a:pPr>
            <a:r>
              <a:rPr lang="en-US" sz="1600" dirty="0">
                <a:solidFill>
                  <a:schemeClr val="tx2"/>
                </a:solidFill>
              </a:rPr>
              <a:t>Price, specs, brochure, 360° view and colours</a:t>
            </a:r>
            <a:endParaRPr lang="en-US" sz="1600" dirty="0"/>
          </a:p>
        </p:txBody>
      </p:sp>
      <p:sp>
        <p:nvSpPr>
          <p:cNvPr id="13" name="idea card 3"/>
          <p:cNvSpPr/>
          <p:nvPr/>
        </p:nvSpPr>
        <p:spPr>
          <a:xfrm>
            <a:off x="6181344" y="1645920"/>
            <a:ext cx="2606040" cy="320040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idea icon 3 bg"/>
          <p:cNvSpPr/>
          <p:nvPr/>
        </p:nvSpPr>
        <p:spPr>
          <a:xfrm>
            <a:off x="6501384" y="1920240"/>
            <a:ext cx="731520" cy="731520"/>
          </a:xfrm>
          <a:prstGeom prst="ellipse">
            <a:avLst/>
          </a:prstGeom>
          <a:solidFill>
            <a:srgbClr val="1B8A6B"/>
          </a:solidFill>
          <a:ln w="12700">
            <a:solidFill>
              <a:srgbClr val="1B8A6B"/>
            </a:solidFill>
            <a:prstDash val="solid"/>
          </a:ln>
        </p:spPr>
      </p:sp>
      <p:pic>
        <p:nvPicPr>
          <p:cNvPr id="15" name="idea icon 3" descr="FiCalendar">    </p:cNvPr>
          <p:cNvPicPr>
            <a:picLocks noChangeAspect="1"/>
          </p:cNvPicPr>
          <p:nvPr/>
        </p:nvPicPr>
        <p:blipFill>
          <a:blip r:embed="rId3"/>
          <a:stretch>
            <a:fillRect/>
          </a:stretch>
        </p:blipFill>
        <p:spPr>
          <a:xfrm>
            <a:off x="6691579" y="2110435"/>
            <a:ext cx="351130" cy="351130"/>
          </a:xfrm>
          <a:prstGeom prst="rect">
            <a:avLst/>
          </a:prstGeom>
        </p:spPr>
      </p:pic>
      <p:sp>
        <p:nvSpPr>
          <p:cNvPr id="16" name="Text 11"/>
          <p:cNvSpPr txBox="1"/>
          <p:nvPr/>
        </p:nvSpPr>
        <p:spPr>
          <a:xfrm>
            <a:off x="6501384" y="2926080"/>
            <a:ext cx="2103120" cy="457200"/>
          </a:xfrm>
          <a:prstGeom prst="rect">
            <a:avLst/>
          </a:prstGeom>
          <a:noFill/>
          <a:ln/>
        </p:spPr>
        <p:txBody>
          <a:bodyPr wrap="square" lIns="0" tIns="0" rIns="0" bIns="0" rtlCol="0" anchor="t"/>
          <a:lstStyle/>
          <a:p>
            <a:pPr indent="0" marL="0">
              <a:buNone/>
            </a:pPr>
            <a:r>
              <a:rPr lang="en-US" sz="2200" b="1" dirty="0">
                <a:solidFill>
                  <a:schemeClr val="tx1"/>
                </a:solidFill>
              </a:rPr>
              <a:t>3  Try</a:t>
            </a:r>
            <a:endParaRPr lang="en-US" sz="2200" dirty="0"/>
          </a:p>
        </p:txBody>
      </p:sp>
      <p:sp>
        <p:nvSpPr>
          <p:cNvPr id="17" name="Text 12"/>
          <p:cNvSpPr txBox="1"/>
          <p:nvPr/>
        </p:nvSpPr>
        <p:spPr>
          <a:xfrm>
            <a:off x="6501384" y="3474720"/>
            <a:ext cx="2011680" cy="1280160"/>
          </a:xfrm>
          <a:prstGeom prst="rect">
            <a:avLst/>
          </a:prstGeom>
          <a:noFill/>
          <a:ln/>
        </p:spPr>
        <p:txBody>
          <a:bodyPr wrap="square" lIns="0" tIns="0" rIns="0" bIns="0" rtlCol="0" anchor="t"/>
          <a:lstStyle/>
          <a:p>
            <a:pPr indent="0" marL="0">
              <a:buNone/>
            </a:pPr>
            <a:r>
              <a:rPr lang="en-US" sz="1600" dirty="0">
                <a:solidFill>
                  <a:schemeClr val="tx2"/>
                </a:solidFill>
              </a:rPr>
              <a:t>Book a test drive at a time and place they choose</a:t>
            </a:r>
            <a:endParaRPr lang="en-US" sz="1600" dirty="0"/>
          </a:p>
        </p:txBody>
      </p:sp>
      <p:sp>
        <p:nvSpPr>
          <p:cNvPr id="18" name="idea card 4"/>
          <p:cNvSpPr/>
          <p:nvPr/>
        </p:nvSpPr>
        <p:spPr>
          <a:xfrm>
            <a:off x="8997696" y="1645920"/>
            <a:ext cx="2606040" cy="3200400"/>
          </a:xfrm>
          <a:prstGeom prst="roundRect">
            <a:avLst>
              <a:gd name="adj" fmla="val 4912"/>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19" name="idea icon 4 bg"/>
          <p:cNvSpPr/>
          <p:nvPr/>
        </p:nvSpPr>
        <p:spPr>
          <a:xfrm>
            <a:off x="9317736" y="1920240"/>
            <a:ext cx="731520" cy="731520"/>
          </a:xfrm>
          <a:prstGeom prst="ellipse">
            <a:avLst/>
          </a:prstGeom>
          <a:solidFill>
            <a:srgbClr val="FFC629"/>
          </a:solidFill>
          <a:ln w="12700">
            <a:solidFill>
              <a:srgbClr val="FFC629"/>
            </a:solidFill>
            <a:prstDash val="solid"/>
          </a:ln>
        </p:spPr>
      </p:sp>
      <p:pic>
        <p:nvPicPr>
          <p:cNvPr id="20" name="idea icon 4" descr="FiCreditCard">    </p:cNvPr>
          <p:cNvPicPr>
            <a:picLocks noChangeAspect="1"/>
          </p:cNvPicPr>
          <p:nvPr/>
        </p:nvPicPr>
        <p:blipFill>
          <a:blip r:embed="rId4"/>
          <a:stretch>
            <a:fillRect/>
          </a:stretch>
        </p:blipFill>
        <p:spPr>
          <a:xfrm>
            <a:off x="9507931" y="2110435"/>
            <a:ext cx="351130" cy="351130"/>
          </a:xfrm>
          <a:prstGeom prst="rect">
            <a:avLst/>
          </a:prstGeom>
        </p:spPr>
      </p:pic>
      <p:sp>
        <p:nvSpPr>
          <p:cNvPr id="21" name="Text 15"/>
          <p:cNvSpPr txBox="1"/>
          <p:nvPr/>
        </p:nvSpPr>
        <p:spPr>
          <a:xfrm>
            <a:off x="9317736" y="2926080"/>
            <a:ext cx="2103120" cy="457200"/>
          </a:xfrm>
          <a:prstGeom prst="rect">
            <a:avLst/>
          </a:prstGeom>
          <a:noFill/>
          <a:ln/>
        </p:spPr>
        <p:txBody>
          <a:bodyPr wrap="square" lIns="0" tIns="0" rIns="0" bIns="0" rtlCol="0" anchor="t"/>
          <a:lstStyle/>
          <a:p>
            <a:pPr indent="0" marL="0">
              <a:buNone/>
            </a:pPr>
            <a:r>
              <a:rPr lang="en-US" sz="2200" b="1" dirty="0">
                <a:solidFill>
                  <a:schemeClr val="bg1"/>
                </a:solidFill>
              </a:rPr>
              <a:t>4  Book</a:t>
            </a:r>
            <a:endParaRPr lang="en-US" sz="2200" dirty="0"/>
          </a:p>
        </p:txBody>
      </p:sp>
      <p:sp>
        <p:nvSpPr>
          <p:cNvPr id="22" name="Text 16"/>
          <p:cNvSpPr txBox="1"/>
          <p:nvPr/>
        </p:nvSpPr>
        <p:spPr>
          <a:xfrm>
            <a:off x="9317736" y="3474720"/>
            <a:ext cx="2011680" cy="1280160"/>
          </a:xfrm>
          <a:prstGeom prst="rect">
            <a:avLst/>
          </a:prstGeom>
          <a:noFill/>
          <a:ln/>
        </p:spPr>
        <p:txBody>
          <a:bodyPr wrap="square" lIns="0" tIns="0" rIns="0" bIns="0" rtlCol="0" anchor="t"/>
          <a:lstStyle/>
          <a:p>
            <a:pPr indent="0" marL="0">
              <a:buNone/>
            </a:pPr>
            <a:r>
              <a:rPr lang="en-US" sz="1600" dirty="0">
                <a:solidFill>
                  <a:srgbClr val="D7E6E0"/>
                </a:solidFill>
              </a:rPr>
              <a:t>Reserve the car with a small online payment</a:t>
            </a:r>
            <a:endParaRPr lang="en-US" sz="1600" dirty="0"/>
          </a:p>
        </p:txBody>
      </p:sp>
      <p:sp>
        <p:nvSpPr>
          <p:cNvPr id="23" name="Text 17"/>
          <p:cNvSpPr txBox="1"/>
          <p:nvPr/>
        </p:nvSpPr>
        <p:spPr>
          <a:xfrm>
            <a:off x="548640" y="5303520"/>
            <a:ext cx="11064240" cy="548640"/>
          </a:xfrm>
          <a:prstGeom prst="rect">
            <a:avLst/>
          </a:prstGeom>
          <a:noFill/>
          <a:ln/>
        </p:spPr>
        <p:txBody>
          <a:bodyPr wrap="square" lIns="0" tIns="0" rIns="0" bIns="0" rtlCol="0" anchor="t"/>
          <a:lstStyle/>
          <a:p>
            <a:pPr indent="0" marL="0">
              <a:buNone/>
            </a:pPr>
            <a:r>
              <a:rPr lang="en-US" sz="2000" dirty="0">
                <a:solidFill>
                  <a:schemeClr val="tx2"/>
                </a:solidFill>
              </a:rPr>
              <a:t>All of it online, from a phone or laptop, at any hour. Let's walk through what the customer sees.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1: Find the right car in seconds</a:t>
            </a:r>
            <a:endParaRPr lang="en-US" sz="3400" dirty="0"/>
          </a:p>
        </p:txBody>
      </p:sp>
      <p:sp>
        <p:nvSpPr>
          <p:cNvPr id="3" name="find your car screen frame"/>
          <p:cNvSpPr/>
          <p:nvPr/>
        </p:nvSpPr>
        <p:spPr>
          <a:xfrm>
            <a:off x="548640" y="1508760"/>
            <a:ext cx="7132320" cy="4330126"/>
          </a:xfrm>
          <a:prstGeom prst="roundRect">
            <a:avLst>
              <a:gd name="adj" fmla="val 253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find your car screen" descr="The Find your car screen with brand, body type, fuel, transmission and budget filters">    </p:cNvPr>
          <p:cNvPicPr>
            <a:picLocks noChangeAspect="1"/>
          </p:cNvPicPr>
          <p:nvPr/>
        </p:nvPicPr>
        <p:blipFill>
          <a:blip r:embed="rId1"/>
          <a:stretch>
            <a:fillRect/>
          </a:stretch>
        </p:blipFill>
        <p:spPr>
          <a:xfrm>
            <a:off x="640080" y="1600200"/>
            <a:ext cx="6949440" cy="4147246"/>
          </a:xfrm>
          <a:prstGeom prst="rect">
            <a:avLst/>
          </a:prstGeom>
        </p:spPr>
      </p:pic>
      <p:sp>
        <p:nvSpPr>
          <p:cNvPr id="5" name="Text 2"/>
          <p:cNvSpPr txBox="1"/>
          <p:nvPr/>
        </p:nvSpPr>
        <p:spPr>
          <a:xfrm>
            <a:off x="7955280" y="1463040"/>
            <a:ext cx="3657600" cy="457200"/>
          </a:xfrm>
          <a:prstGeom prst="rect">
            <a:avLst/>
          </a:prstGeom>
          <a:noFill/>
          <a:ln/>
        </p:spPr>
        <p:txBody>
          <a:bodyPr wrap="square" lIns="0" tIns="0" rIns="0" bIns="0" rtlCol="0" anchor="t"/>
          <a:lstStyle/>
          <a:p>
            <a:pPr indent="0" marL="0">
              <a:buNone/>
            </a:pPr>
            <a:r>
              <a:rPr lang="en-US" sz="2000" b="1" dirty="0">
                <a:solidFill>
                  <a:schemeClr val="tx1"/>
                </a:solidFill>
              </a:rPr>
              <a:t>Pick what matters</a:t>
            </a:r>
            <a:endParaRPr lang="en-US" sz="2000" dirty="0"/>
          </a:p>
        </p:txBody>
      </p:sp>
      <p:sp>
        <p:nvSpPr>
          <p:cNvPr id="6" name="Text 3"/>
          <p:cNvSpPr txBox="1"/>
          <p:nvPr/>
        </p:nvSpPr>
        <p:spPr>
          <a:xfrm>
            <a:off x="7955280" y="1920240"/>
            <a:ext cx="3657600" cy="822960"/>
          </a:xfrm>
          <a:prstGeom prst="rect">
            <a:avLst/>
          </a:prstGeom>
          <a:noFill/>
          <a:ln/>
        </p:spPr>
        <p:txBody>
          <a:bodyPr wrap="square" lIns="0" tIns="0" rIns="0" bIns="0" rtlCol="0" anchor="t"/>
          <a:lstStyle/>
          <a:p>
            <a:pPr indent="0" marL="0">
              <a:buNone/>
            </a:pPr>
            <a:r>
              <a:rPr lang="en-US" sz="1600" dirty="0">
                <a:solidFill>
                  <a:schemeClr val="tx2"/>
                </a:solidFill>
              </a:rPr>
              <a:t>Brand, body type, fuel, transmission and budget.</a:t>
            </a:r>
            <a:endParaRPr lang="en-US" sz="1600" dirty="0"/>
          </a:p>
        </p:txBody>
      </p:sp>
      <p:sp>
        <p:nvSpPr>
          <p:cNvPr id="7" name="Text 4"/>
          <p:cNvSpPr txBox="1"/>
          <p:nvPr/>
        </p:nvSpPr>
        <p:spPr>
          <a:xfrm>
            <a:off x="7955280" y="2971800"/>
            <a:ext cx="3657600" cy="457200"/>
          </a:xfrm>
          <a:prstGeom prst="rect">
            <a:avLst/>
          </a:prstGeom>
          <a:noFill/>
          <a:ln/>
        </p:spPr>
        <p:txBody>
          <a:bodyPr wrap="square" lIns="0" tIns="0" rIns="0" bIns="0" rtlCol="0" anchor="t"/>
          <a:lstStyle/>
          <a:p>
            <a:pPr indent="0" marL="0">
              <a:buNone/>
            </a:pPr>
            <a:r>
              <a:rPr lang="en-US" sz="2000" b="1" dirty="0">
                <a:solidFill>
                  <a:schemeClr val="tx1"/>
                </a:solidFill>
              </a:rPr>
              <a:t>No dead ends</a:t>
            </a:r>
            <a:endParaRPr lang="en-US" sz="2000" dirty="0"/>
          </a:p>
        </p:txBody>
      </p:sp>
      <p:sp>
        <p:nvSpPr>
          <p:cNvPr id="8" name="Text 5"/>
          <p:cNvSpPr txBox="1"/>
          <p:nvPr/>
        </p:nvSpPr>
        <p:spPr>
          <a:xfrm>
            <a:off x="7955280" y="3429000"/>
            <a:ext cx="3657600" cy="822960"/>
          </a:xfrm>
          <a:prstGeom prst="rect">
            <a:avLst/>
          </a:prstGeom>
          <a:noFill/>
          <a:ln/>
        </p:spPr>
        <p:txBody>
          <a:bodyPr wrap="square" lIns="0" tIns="0" rIns="0" bIns="0" rtlCol="0" anchor="t"/>
          <a:lstStyle/>
          <a:p>
            <a:pPr indent="0" marL="0">
              <a:buNone/>
            </a:pPr>
            <a:r>
              <a:rPr lang="en-US" sz="1600" dirty="0">
                <a:solidFill>
                  <a:schemeClr val="tx2"/>
                </a:solidFill>
              </a:rPr>
              <a:t>Only options that match their other choices are shown.</a:t>
            </a:r>
            <a:endParaRPr lang="en-US" sz="1600" dirty="0"/>
          </a:p>
        </p:txBody>
      </p:sp>
      <p:sp>
        <p:nvSpPr>
          <p:cNvPr id="9" name="Text 6"/>
          <p:cNvSpPr txBox="1"/>
          <p:nvPr/>
        </p:nvSpPr>
        <p:spPr>
          <a:xfrm>
            <a:off x="7955280" y="4480560"/>
            <a:ext cx="3657600" cy="457200"/>
          </a:xfrm>
          <a:prstGeom prst="rect">
            <a:avLst/>
          </a:prstGeom>
          <a:noFill/>
          <a:ln/>
        </p:spPr>
        <p:txBody>
          <a:bodyPr wrap="square" lIns="0" tIns="0" rIns="0" bIns="0" rtlCol="0" anchor="t"/>
          <a:lstStyle/>
          <a:p>
            <a:pPr indent="0" marL="0">
              <a:buNone/>
            </a:pPr>
            <a:r>
              <a:rPr lang="en-US" sz="2000" b="1" dirty="0">
                <a:solidFill>
                  <a:schemeClr val="tx1"/>
                </a:solidFill>
              </a:rPr>
              <a:t>Straight to booking</a:t>
            </a:r>
            <a:endParaRPr lang="en-US" sz="2000" dirty="0"/>
          </a:p>
        </p:txBody>
      </p:sp>
      <p:sp>
        <p:nvSpPr>
          <p:cNvPr id="10" name="Text 7"/>
          <p:cNvSpPr txBox="1"/>
          <p:nvPr/>
        </p:nvSpPr>
        <p:spPr>
          <a:xfrm>
            <a:off x="7955280" y="4937760"/>
            <a:ext cx="3657600" cy="822960"/>
          </a:xfrm>
          <a:prstGeom prst="rect">
            <a:avLst/>
          </a:prstGeom>
          <a:noFill/>
          <a:ln/>
        </p:spPr>
        <p:txBody>
          <a:bodyPr wrap="square" lIns="0" tIns="0" rIns="0" bIns="0" rtlCol="0" anchor="t"/>
          <a:lstStyle/>
          <a:p>
            <a:pPr indent="0" marL="0">
              <a:buNone/>
            </a:pPr>
            <a:r>
              <a:rPr lang="en-US" sz="1600" dirty="0">
                <a:solidFill>
                  <a:schemeClr val="tx2"/>
                </a:solidFill>
              </a:rPr>
              <a:t>From the result, one click to book a test drive.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2: See the price, the details and the brochure</a:t>
            </a:r>
            <a:endParaRPr lang="en-US" sz="3400" dirty="0"/>
          </a:p>
        </p:txBody>
      </p:sp>
      <p:sp>
        <p:nvSpPr>
          <p:cNvPr id="3" name="car page frame"/>
          <p:cNvSpPr/>
          <p:nvPr/>
        </p:nvSpPr>
        <p:spPr>
          <a:xfrm>
            <a:off x="548640" y="1645920"/>
            <a:ext cx="7132320" cy="3713644"/>
          </a:xfrm>
          <a:prstGeom prst="roundRect">
            <a:avLst>
              <a:gd name="adj" fmla="val 2955"/>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car page" descr="A car page with photo, price range, stock status, Book Test Drive button and brochure link">    </p:cNvPr>
          <p:cNvPicPr>
            <a:picLocks noChangeAspect="1"/>
          </p:cNvPicPr>
          <p:nvPr/>
        </p:nvPicPr>
        <p:blipFill>
          <a:blip r:embed="rId1"/>
          <a:stretch>
            <a:fillRect/>
          </a:stretch>
        </p:blipFill>
        <p:spPr>
          <a:xfrm>
            <a:off x="640080" y="1737360"/>
            <a:ext cx="6949440" cy="3530764"/>
          </a:xfrm>
          <a:prstGeom prst="rect">
            <a:avLst/>
          </a:prstGeom>
        </p:spPr>
      </p:pic>
      <p:sp>
        <p:nvSpPr>
          <p:cNvPr id="5" name="Text 2"/>
          <p:cNvSpPr txBox="1"/>
          <p:nvPr/>
        </p:nvSpPr>
        <p:spPr>
          <a:xfrm>
            <a:off x="7955280" y="1463040"/>
            <a:ext cx="3657600" cy="457200"/>
          </a:xfrm>
          <a:prstGeom prst="rect">
            <a:avLst/>
          </a:prstGeom>
          <a:noFill/>
          <a:ln/>
        </p:spPr>
        <p:txBody>
          <a:bodyPr wrap="square" lIns="0" tIns="0" rIns="0" bIns="0" rtlCol="0" anchor="t"/>
          <a:lstStyle/>
          <a:p>
            <a:pPr indent="0" marL="0">
              <a:buNone/>
            </a:pPr>
            <a:r>
              <a:rPr lang="en-US" sz="2000" b="1" dirty="0">
                <a:solidFill>
                  <a:schemeClr val="tx1"/>
                </a:solidFill>
              </a:rPr>
              <a:t>Clear pricing up front</a:t>
            </a:r>
            <a:endParaRPr lang="en-US" sz="2000" dirty="0"/>
          </a:p>
        </p:txBody>
      </p:sp>
      <p:sp>
        <p:nvSpPr>
          <p:cNvPr id="6" name="Text 3"/>
          <p:cNvSpPr txBox="1"/>
          <p:nvPr/>
        </p:nvSpPr>
        <p:spPr>
          <a:xfrm>
            <a:off x="7955280" y="1920240"/>
            <a:ext cx="3657600" cy="822960"/>
          </a:xfrm>
          <a:prstGeom prst="rect">
            <a:avLst/>
          </a:prstGeom>
          <a:noFill/>
          <a:ln/>
        </p:spPr>
        <p:txBody>
          <a:bodyPr wrap="square" lIns="0" tIns="0" rIns="0" bIns="0" rtlCol="0" anchor="t"/>
          <a:lstStyle/>
          <a:p>
            <a:pPr indent="0" marL="0">
              <a:buNone/>
            </a:pPr>
            <a:r>
              <a:rPr lang="en-US" sz="1600" dirty="0">
                <a:solidFill>
                  <a:schemeClr val="tx2"/>
                </a:solidFill>
              </a:rPr>
              <a:t>Price range and fuel options at the top of the page.</a:t>
            </a:r>
            <a:endParaRPr lang="en-US" sz="1600" dirty="0"/>
          </a:p>
        </p:txBody>
      </p:sp>
      <p:sp>
        <p:nvSpPr>
          <p:cNvPr id="7" name="Text 4"/>
          <p:cNvSpPr txBox="1"/>
          <p:nvPr/>
        </p:nvSpPr>
        <p:spPr>
          <a:xfrm>
            <a:off x="7955280" y="2971800"/>
            <a:ext cx="3657600" cy="457200"/>
          </a:xfrm>
          <a:prstGeom prst="rect">
            <a:avLst/>
          </a:prstGeom>
          <a:noFill/>
          <a:ln/>
        </p:spPr>
        <p:txBody>
          <a:bodyPr wrap="square" lIns="0" tIns="0" rIns="0" bIns="0" rtlCol="0" anchor="t"/>
          <a:lstStyle/>
          <a:p>
            <a:pPr indent="0" marL="0">
              <a:buNone/>
            </a:pPr>
            <a:r>
              <a:rPr lang="en-US" sz="2000" b="1" dirty="0">
                <a:solidFill>
                  <a:schemeClr val="tx1"/>
                </a:solidFill>
              </a:rPr>
              <a:t>Availability at a glance</a:t>
            </a:r>
            <a:endParaRPr lang="en-US" sz="2000" dirty="0"/>
          </a:p>
        </p:txBody>
      </p:sp>
      <p:sp>
        <p:nvSpPr>
          <p:cNvPr id="8" name="Text 5"/>
          <p:cNvSpPr txBox="1"/>
          <p:nvPr/>
        </p:nvSpPr>
        <p:spPr>
          <a:xfrm>
            <a:off x="7955280" y="3429000"/>
            <a:ext cx="3657600" cy="822960"/>
          </a:xfrm>
          <a:prstGeom prst="rect">
            <a:avLst/>
          </a:prstGeom>
          <a:noFill/>
          <a:ln/>
        </p:spPr>
        <p:txBody>
          <a:bodyPr wrap="square" lIns="0" tIns="0" rIns="0" bIns="0" rtlCol="0" anchor="t"/>
          <a:lstStyle/>
          <a:p>
            <a:pPr indent="0" marL="0">
              <a:buNone/>
            </a:pPr>
            <a:r>
              <a:rPr lang="en-US" sz="1600" dirty="0">
                <a:solidFill>
                  <a:schemeClr val="tx2"/>
                </a:solidFill>
              </a:rPr>
              <a:t>In-stock status and model year.</a:t>
            </a:r>
            <a:endParaRPr lang="en-US" sz="1600" dirty="0"/>
          </a:p>
        </p:txBody>
      </p:sp>
      <p:sp>
        <p:nvSpPr>
          <p:cNvPr id="9" name="Text 6"/>
          <p:cNvSpPr txBox="1"/>
          <p:nvPr/>
        </p:nvSpPr>
        <p:spPr>
          <a:xfrm>
            <a:off x="7955280" y="4480560"/>
            <a:ext cx="3657600" cy="457200"/>
          </a:xfrm>
          <a:prstGeom prst="rect">
            <a:avLst/>
          </a:prstGeom>
          <a:noFill/>
          <a:ln/>
        </p:spPr>
        <p:txBody>
          <a:bodyPr wrap="square" lIns="0" tIns="0" rIns="0" bIns="0" rtlCol="0" anchor="t"/>
          <a:lstStyle/>
          <a:p>
            <a:pPr indent="0" marL="0">
              <a:buNone/>
            </a:pPr>
            <a:r>
              <a:rPr lang="en-US" sz="2000" b="1" dirty="0">
                <a:solidFill>
                  <a:schemeClr val="tx1"/>
                </a:solidFill>
              </a:rPr>
              <a:t>One click to act</a:t>
            </a:r>
            <a:endParaRPr lang="en-US" sz="2000" dirty="0"/>
          </a:p>
        </p:txBody>
      </p:sp>
      <p:sp>
        <p:nvSpPr>
          <p:cNvPr id="10" name="Text 7"/>
          <p:cNvSpPr txBox="1"/>
          <p:nvPr/>
        </p:nvSpPr>
        <p:spPr>
          <a:xfrm>
            <a:off x="7955280" y="4937760"/>
            <a:ext cx="3657600" cy="822960"/>
          </a:xfrm>
          <a:prstGeom prst="rect">
            <a:avLst/>
          </a:prstGeom>
          <a:noFill/>
          <a:ln/>
        </p:spPr>
        <p:txBody>
          <a:bodyPr wrap="square" lIns="0" tIns="0" rIns="0" bIns="0" rtlCol="0" anchor="t"/>
          <a:lstStyle/>
          <a:p>
            <a:pPr indent="0" marL="0">
              <a:buNone/>
            </a:pPr>
            <a:r>
              <a:rPr lang="en-US" sz="1600" dirty="0">
                <a:solidFill>
                  <a:schemeClr val="tx2"/>
                </a:solidFill>
              </a:rPr>
              <a:t>Book a test drive or download the official brochure.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Every question a buyer has, answered on one page</a:t>
            </a:r>
            <a:endParaRPr lang="en-US" sz="3400" dirty="0"/>
          </a:p>
        </p:txBody>
      </p:sp>
      <p:sp>
        <p:nvSpPr>
          <p:cNvPr id="3" name="highlights frame"/>
          <p:cNvSpPr/>
          <p:nvPr/>
        </p:nvSpPr>
        <p:spPr>
          <a:xfrm>
            <a:off x="548640" y="1737360"/>
            <a:ext cx="5532120" cy="2728083"/>
          </a:xfrm>
          <a:prstGeom prst="roundRect">
            <a:avLst>
              <a:gd name="adj" fmla="val 4022"/>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highlights" descr="Overview and highlights section of a car page">    </p:cNvPr>
          <p:cNvPicPr>
            <a:picLocks noChangeAspect="1"/>
          </p:cNvPicPr>
          <p:nvPr/>
        </p:nvPicPr>
        <p:blipFill>
          <a:blip r:embed="rId1"/>
          <a:stretch>
            <a:fillRect/>
          </a:stretch>
        </p:blipFill>
        <p:spPr>
          <a:xfrm>
            <a:off x="640080" y="1828800"/>
            <a:ext cx="5349240" cy="2545203"/>
          </a:xfrm>
          <a:prstGeom prst="rect">
            <a:avLst/>
          </a:prstGeom>
        </p:spPr>
      </p:pic>
      <p:sp>
        <p:nvSpPr>
          <p:cNvPr id="5" name="specifications frame"/>
          <p:cNvSpPr/>
          <p:nvPr/>
        </p:nvSpPr>
        <p:spPr>
          <a:xfrm>
            <a:off x="6263640" y="1737360"/>
            <a:ext cx="5394960" cy="2957052"/>
          </a:xfrm>
          <a:prstGeom prst="roundRect">
            <a:avLst>
              <a:gd name="adj" fmla="val 3711"/>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6" name="specifications" descr="Specifications section with body type, fuel, transmission, seating and boot space">    </p:cNvPr>
          <p:cNvPicPr>
            <a:picLocks noChangeAspect="1"/>
          </p:cNvPicPr>
          <p:nvPr/>
        </p:nvPicPr>
        <p:blipFill>
          <a:blip r:embed="rId2"/>
          <a:stretch>
            <a:fillRect/>
          </a:stretch>
        </p:blipFill>
        <p:spPr>
          <a:xfrm>
            <a:off x="6355080" y="1828800"/>
            <a:ext cx="5212080" cy="2774172"/>
          </a:xfrm>
          <a:prstGeom prst="rect">
            <a:avLst/>
          </a:prstGeom>
        </p:spPr>
      </p:pic>
      <p:sp>
        <p:nvSpPr>
          <p:cNvPr id="7" name="Text 3"/>
          <p:cNvSpPr txBox="1"/>
          <p:nvPr/>
        </p:nvSpPr>
        <p:spPr>
          <a:xfrm>
            <a:off x="640080" y="4754880"/>
            <a:ext cx="5303520" cy="457200"/>
          </a:xfrm>
          <a:prstGeom prst="rect">
            <a:avLst/>
          </a:prstGeom>
          <a:noFill/>
          <a:ln/>
        </p:spPr>
        <p:txBody>
          <a:bodyPr wrap="square" lIns="0" tIns="0" rIns="0" bIns="0" rtlCol="0" anchor="t"/>
          <a:lstStyle/>
          <a:p>
            <a:pPr indent="0" marL="0">
              <a:buNone/>
            </a:pPr>
            <a:r>
              <a:rPr lang="en-US" sz="2000" b="1" dirty="0">
                <a:solidFill>
                  <a:schemeClr val="tx1"/>
                </a:solidFill>
              </a:rPr>
              <a:t>Highlights in plain language</a:t>
            </a:r>
            <a:endParaRPr lang="en-US" sz="2000" dirty="0"/>
          </a:p>
        </p:txBody>
      </p:sp>
      <p:sp>
        <p:nvSpPr>
          <p:cNvPr id="8" name="Text 4"/>
          <p:cNvSpPr txBox="1"/>
          <p:nvPr/>
        </p:nvSpPr>
        <p:spPr>
          <a:xfrm>
            <a:off x="640080" y="5212080"/>
            <a:ext cx="5303520" cy="731520"/>
          </a:xfrm>
          <a:prstGeom prst="rect">
            <a:avLst/>
          </a:prstGeom>
          <a:noFill/>
          <a:ln/>
        </p:spPr>
        <p:txBody>
          <a:bodyPr wrap="square" lIns="0" tIns="0" rIns="0" bIns="0" rtlCol="0" anchor="t"/>
          <a:lstStyle/>
          <a:p>
            <a:pPr indent="0" marL="0">
              <a:buNone/>
            </a:pPr>
            <a:r>
              <a:rPr lang="en-US" sz="1600" dirty="0">
                <a:solidFill>
                  <a:schemeClr val="tx2"/>
                </a:solidFill>
              </a:rPr>
              <a:t>Short, readable reasons to love the car, written by your team.</a:t>
            </a:r>
            <a:endParaRPr lang="en-US" sz="1600" dirty="0"/>
          </a:p>
        </p:txBody>
      </p:sp>
      <p:sp>
        <p:nvSpPr>
          <p:cNvPr id="9" name="Text 5"/>
          <p:cNvSpPr txBox="1"/>
          <p:nvPr/>
        </p:nvSpPr>
        <p:spPr>
          <a:xfrm>
            <a:off x="6355080" y="4846320"/>
            <a:ext cx="5212080" cy="457200"/>
          </a:xfrm>
          <a:prstGeom prst="rect">
            <a:avLst/>
          </a:prstGeom>
          <a:noFill/>
          <a:ln/>
        </p:spPr>
        <p:txBody>
          <a:bodyPr wrap="square" lIns="0" tIns="0" rIns="0" bIns="0" rtlCol="0" anchor="t"/>
          <a:lstStyle/>
          <a:p>
            <a:pPr indent="0" marL="0">
              <a:buNone/>
            </a:pPr>
            <a:r>
              <a:rPr lang="en-US" sz="2000" b="1" dirty="0">
                <a:solidFill>
                  <a:schemeClr val="tx1"/>
                </a:solidFill>
              </a:rPr>
              <a:t>Specifications and variants</a:t>
            </a:r>
            <a:endParaRPr lang="en-US" sz="2000" dirty="0"/>
          </a:p>
        </p:txBody>
      </p:sp>
      <p:sp>
        <p:nvSpPr>
          <p:cNvPr id="10" name="Text 6"/>
          <p:cNvSpPr txBox="1"/>
          <p:nvPr/>
        </p:nvSpPr>
        <p:spPr>
          <a:xfrm>
            <a:off x="6355080" y="5303520"/>
            <a:ext cx="5212080" cy="731520"/>
          </a:xfrm>
          <a:prstGeom prst="rect">
            <a:avLst/>
          </a:prstGeom>
          <a:noFill/>
          <a:ln/>
        </p:spPr>
        <p:txBody>
          <a:bodyPr wrap="square" lIns="0" tIns="0" rIns="0" bIns="0" rtlCol="0" anchor="t"/>
          <a:lstStyle/>
          <a:p>
            <a:pPr indent="0" marL="0">
              <a:buNone/>
            </a:pPr>
            <a:r>
              <a:rPr lang="en-US" sz="1600" dirty="0">
                <a:solidFill>
                  <a:schemeClr val="tx2"/>
                </a:solidFill>
              </a:rPr>
              <a:t>Fuel, transmission, seating, boot space and every variant with its price.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Walk around the car without leaving home</a:t>
            </a:r>
            <a:endParaRPr lang="en-US" sz="3400" dirty="0"/>
          </a:p>
        </p:txBody>
      </p:sp>
      <p:sp>
        <p:nvSpPr>
          <p:cNvPr id="3" name="angle frame 1"/>
          <p:cNvSpPr/>
          <p:nvPr/>
        </p:nvSpPr>
        <p:spPr>
          <a:xfrm>
            <a:off x="548640"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4" name="car angle 1" descr="Car seen from a different angle in the 360 degree view">    </p:cNvPr>
          <p:cNvPicPr>
            <a:picLocks noChangeAspect="1"/>
          </p:cNvPicPr>
          <p:nvPr/>
        </p:nvPicPr>
        <p:blipFill>
          <a:blip r:embed="rId1"/>
          <a:srcRect l="0" r="0" t="0" b="0"/>
          <a:stretch/>
        </p:blipFill>
        <p:spPr>
          <a:xfrm>
            <a:off x="621792" y="1627632"/>
            <a:ext cx="2459736" cy="1773936"/>
          </a:xfrm>
          <a:prstGeom prst="rect">
            <a:avLst/>
          </a:prstGeom>
        </p:spPr>
      </p:pic>
      <p:sp>
        <p:nvSpPr>
          <p:cNvPr id="5" name="angle frame 2"/>
          <p:cNvSpPr/>
          <p:nvPr/>
        </p:nvSpPr>
        <p:spPr>
          <a:xfrm>
            <a:off x="3364992"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6" name="car angle 2" descr="Car seen from a different angle in the 360 degree view">    </p:cNvPr>
          <p:cNvPicPr>
            <a:picLocks noChangeAspect="1"/>
          </p:cNvPicPr>
          <p:nvPr/>
        </p:nvPicPr>
        <p:blipFill>
          <a:blip r:embed="rId2"/>
          <a:srcRect l="0" r="0" t="0" b="0"/>
          <a:stretch/>
        </p:blipFill>
        <p:spPr>
          <a:xfrm>
            <a:off x="3438144" y="1627632"/>
            <a:ext cx="2459736" cy="1773936"/>
          </a:xfrm>
          <a:prstGeom prst="rect">
            <a:avLst/>
          </a:prstGeom>
        </p:spPr>
      </p:pic>
      <p:sp>
        <p:nvSpPr>
          <p:cNvPr id="7" name="angle frame 3"/>
          <p:cNvSpPr/>
          <p:nvPr/>
        </p:nvSpPr>
        <p:spPr>
          <a:xfrm>
            <a:off x="6181344"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8" name="car angle 3" descr="Car seen from a different angle in the 360 degree view">    </p:cNvPr>
          <p:cNvPicPr>
            <a:picLocks noChangeAspect="1"/>
          </p:cNvPicPr>
          <p:nvPr/>
        </p:nvPicPr>
        <p:blipFill>
          <a:blip r:embed="rId3"/>
          <a:srcRect l="0" r="0" t="0" b="0"/>
          <a:stretch/>
        </p:blipFill>
        <p:spPr>
          <a:xfrm>
            <a:off x="6254496" y="1627632"/>
            <a:ext cx="2459736" cy="1773936"/>
          </a:xfrm>
          <a:prstGeom prst="rect">
            <a:avLst/>
          </a:prstGeom>
        </p:spPr>
      </p:pic>
      <p:sp>
        <p:nvSpPr>
          <p:cNvPr id="9" name="angle frame 4"/>
          <p:cNvSpPr/>
          <p:nvPr/>
        </p:nvSpPr>
        <p:spPr>
          <a:xfrm>
            <a:off x="8997696" y="1554480"/>
            <a:ext cx="2606040" cy="1920240"/>
          </a:xfrm>
          <a:prstGeom prst="roundRect">
            <a:avLst>
              <a:gd name="adj" fmla="val 5714"/>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0" name="car angle 4" descr="Car seen from a different angle in the 360 degree view">    </p:cNvPr>
          <p:cNvPicPr>
            <a:picLocks noChangeAspect="1"/>
          </p:cNvPicPr>
          <p:nvPr/>
        </p:nvPicPr>
        <p:blipFill>
          <a:blip r:embed="rId4"/>
          <a:srcRect l="0" r="0" t="0" b="0"/>
          <a:stretch/>
        </p:blipFill>
        <p:spPr>
          <a:xfrm>
            <a:off x="9070848" y="1627632"/>
            <a:ext cx="2459736" cy="1773936"/>
          </a:xfrm>
          <a:prstGeom prst="rect">
            <a:avLst/>
          </a:prstGeom>
        </p:spPr>
      </p:pic>
      <p:sp>
        <p:nvSpPr>
          <p:cNvPr id="11" name="angle icon 1 bg"/>
          <p:cNvSpPr/>
          <p:nvPr/>
        </p:nvSpPr>
        <p:spPr>
          <a:xfrm>
            <a:off x="548640" y="3977640"/>
            <a:ext cx="640080" cy="640080"/>
          </a:xfrm>
          <a:prstGeom prst="ellipse">
            <a:avLst/>
          </a:prstGeom>
          <a:solidFill>
            <a:srgbClr val="1B8A6B"/>
          </a:solidFill>
          <a:ln w="12700">
            <a:solidFill>
              <a:srgbClr val="1B8A6B"/>
            </a:solidFill>
            <a:prstDash val="solid"/>
          </a:ln>
        </p:spPr>
      </p:sp>
      <p:pic>
        <p:nvPicPr>
          <p:cNvPr id="12" name="angle icon 1" descr="FiRotateCw">    </p:cNvPr>
          <p:cNvPicPr>
            <a:picLocks noChangeAspect="1"/>
          </p:cNvPicPr>
          <p:nvPr/>
        </p:nvPicPr>
        <p:blipFill>
          <a:blip r:embed="rId5"/>
          <a:stretch>
            <a:fillRect/>
          </a:stretch>
        </p:blipFill>
        <p:spPr>
          <a:xfrm>
            <a:off x="715061" y="4144061"/>
            <a:ext cx="307238" cy="307238"/>
          </a:xfrm>
          <a:prstGeom prst="rect">
            <a:avLst/>
          </a:prstGeom>
        </p:spPr>
      </p:pic>
      <p:sp>
        <p:nvSpPr>
          <p:cNvPr id="13" name="Text 6"/>
          <p:cNvSpPr txBox="1"/>
          <p:nvPr/>
        </p:nvSpPr>
        <p:spPr>
          <a:xfrm>
            <a:off x="1371600" y="402336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Spin it 360°</a:t>
            </a:r>
            <a:endParaRPr lang="en-US" sz="2000" dirty="0"/>
          </a:p>
        </p:txBody>
      </p:sp>
      <p:sp>
        <p:nvSpPr>
          <p:cNvPr id="14" name="Text 7"/>
          <p:cNvSpPr txBox="1"/>
          <p:nvPr/>
        </p:nvSpPr>
        <p:spPr>
          <a:xfrm>
            <a:off x="548640" y="4846320"/>
            <a:ext cx="3383280" cy="1097280"/>
          </a:xfrm>
          <a:prstGeom prst="rect">
            <a:avLst/>
          </a:prstGeom>
          <a:noFill/>
          <a:ln/>
        </p:spPr>
        <p:txBody>
          <a:bodyPr wrap="square" lIns="0" tIns="0" rIns="0" bIns="0" rtlCol="0" anchor="t"/>
          <a:lstStyle/>
          <a:p>
            <a:pPr indent="0" marL="0">
              <a:buNone/>
            </a:pPr>
            <a:r>
              <a:rPr lang="en-US" sz="1600" dirty="0">
                <a:solidFill>
                  <a:schemeClr val="tx2"/>
                </a:solidFill>
              </a:rPr>
              <a:t>Customers drag to turn the car and see every side, inside the page.</a:t>
            </a:r>
            <a:endParaRPr lang="en-US" sz="1600" dirty="0"/>
          </a:p>
        </p:txBody>
      </p:sp>
      <p:sp>
        <p:nvSpPr>
          <p:cNvPr id="15" name="angle icon 2 bg"/>
          <p:cNvSpPr/>
          <p:nvPr/>
        </p:nvSpPr>
        <p:spPr>
          <a:xfrm>
            <a:off x="4297680" y="3977640"/>
            <a:ext cx="640080" cy="640080"/>
          </a:xfrm>
          <a:prstGeom prst="ellipse">
            <a:avLst/>
          </a:prstGeom>
          <a:solidFill>
            <a:srgbClr val="1B8A6B"/>
          </a:solidFill>
          <a:ln w="12700">
            <a:solidFill>
              <a:srgbClr val="1B8A6B"/>
            </a:solidFill>
            <a:prstDash val="solid"/>
          </a:ln>
        </p:spPr>
      </p:sp>
      <p:pic>
        <p:nvPicPr>
          <p:cNvPr id="16" name="angle icon 2" descr="FiDroplet">    </p:cNvPr>
          <p:cNvPicPr>
            <a:picLocks noChangeAspect="1"/>
          </p:cNvPicPr>
          <p:nvPr/>
        </p:nvPicPr>
        <p:blipFill>
          <a:blip r:embed="rId6"/>
          <a:stretch>
            <a:fillRect/>
          </a:stretch>
        </p:blipFill>
        <p:spPr>
          <a:xfrm>
            <a:off x="4464101" y="4144061"/>
            <a:ext cx="307238" cy="307238"/>
          </a:xfrm>
          <a:prstGeom prst="rect">
            <a:avLst/>
          </a:prstGeom>
        </p:spPr>
      </p:pic>
      <p:sp>
        <p:nvSpPr>
          <p:cNvPr id="17" name="Text 9"/>
          <p:cNvSpPr txBox="1"/>
          <p:nvPr/>
        </p:nvSpPr>
        <p:spPr>
          <a:xfrm>
            <a:off x="5120640" y="402336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Try any colour</a:t>
            </a:r>
            <a:endParaRPr lang="en-US" sz="2000" dirty="0"/>
          </a:p>
        </p:txBody>
      </p:sp>
      <p:sp>
        <p:nvSpPr>
          <p:cNvPr id="18" name="Text 10"/>
          <p:cNvSpPr txBox="1"/>
          <p:nvPr/>
        </p:nvSpPr>
        <p:spPr>
          <a:xfrm>
            <a:off x="4297680" y="4846320"/>
            <a:ext cx="3383280" cy="1097280"/>
          </a:xfrm>
          <a:prstGeom prst="rect">
            <a:avLst/>
          </a:prstGeom>
          <a:noFill/>
          <a:ln/>
        </p:spPr>
        <p:txBody>
          <a:bodyPr wrap="square" lIns="0" tIns="0" rIns="0" bIns="0" rtlCol="0" anchor="t"/>
          <a:lstStyle/>
          <a:p>
            <a:pPr indent="0" marL="0">
              <a:buNone/>
            </a:pPr>
            <a:r>
              <a:rPr lang="en-US" sz="1600" dirty="0">
                <a:solidFill>
                  <a:schemeClr val="tx2"/>
                </a:solidFill>
              </a:rPr>
              <a:t>They pick a colour and the car repaints on screen, including two-tone roofs.</a:t>
            </a:r>
            <a:endParaRPr lang="en-US" sz="1600" dirty="0"/>
          </a:p>
        </p:txBody>
      </p:sp>
      <p:sp>
        <p:nvSpPr>
          <p:cNvPr id="19" name="angle icon 3 bg"/>
          <p:cNvSpPr/>
          <p:nvPr/>
        </p:nvSpPr>
        <p:spPr>
          <a:xfrm>
            <a:off x="8046720" y="3977640"/>
            <a:ext cx="640080" cy="640080"/>
          </a:xfrm>
          <a:prstGeom prst="ellipse">
            <a:avLst/>
          </a:prstGeom>
          <a:solidFill>
            <a:srgbClr val="1B8A6B"/>
          </a:solidFill>
          <a:ln w="12700">
            <a:solidFill>
              <a:srgbClr val="1B8A6B"/>
            </a:solidFill>
            <a:prstDash val="solid"/>
          </a:ln>
        </p:spPr>
      </p:sp>
      <p:pic>
        <p:nvPicPr>
          <p:cNvPr id="20" name="angle icon 3" descr="FiSmile">    </p:cNvPr>
          <p:cNvPicPr>
            <a:picLocks noChangeAspect="1"/>
          </p:cNvPicPr>
          <p:nvPr/>
        </p:nvPicPr>
        <p:blipFill>
          <a:blip r:embed="rId7"/>
          <a:stretch>
            <a:fillRect/>
          </a:stretch>
        </p:blipFill>
        <p:spPr>
          <a:xfrm>
            <a:off x="8213141" y="4144061"/>
            <a:ext cx="307238" cy="307238"/>
          </a:xfrm>
          <a:prstGeom prst="rect">
            <a:avLst/>
          </a:prstGeom>
        </p:spPr>
      </p:pic>
      <p:sp>
        <p:nvSpPr>
          <p:cNvPr id="21" name="Text 12"/>
          <p:cNvSpPr txBox="1"/>
          <p:nvPr/>
        </p:nvSpPr>
        <p:spPr>
          <a:xfrm>
            <a:off x="8869680" y="4023360"/>
            <a:ext cx="2651760" cy="457200"/>
          </a:xfrm>
          <a:prstGeom prst="rect">
            <a:avLst/>
          </a:prstGeom>
          <a:noFill/>
          <a:ln/>
        </p:spPr>
        <p:txBody>
          <a:bodyPr wrap="square" lIns="0" tIns="0" rIns="0" bIns="0" rtlCol="0" anchor="ctr"/>
          <a:lstStyle/>
          <a:p>
            <a:pPr indent="0" marL="0">
              <a:buNone/>
            </a:pPr>
            <a:r>
              <a:rPr lang="en-US" sz="2000" b="1" dirty="0">
                <a:solidFill>
                  <a:schemeClr val="tx1"/>
                </a:solidFill>
              </a:rPr>
              <a:t>Fewer surprises</a:t>
            </a:r>
            <a:endParaRPr lang="en-US" sz="2000" dirty="0"/>
          </a:p>
        </p:txBody>
      </p:sp>
      <p:sp>
        <p:nvSpPr>
          <p:cNvPr id="22" name="Text 13"/>
          <p:cNvSpPr txBox="1"/>
          <p:nvPr/>
        </p:nvSpPr>
        <p:spPr>
          <a:xfrm>
            <a:off x="8046720" y="4846320"/>
            <a:ext cx="3383280" cy="1097280"/>
          </a:xfrm>
          <a:prstGeom prst="rect">
            <a:avLst/>
          </a:prstGeom>
          <a:noFill/>
          <a:ln/>
        </p:spPr>
        <p:txBody>
          <a:bodyPr wrap="square" lIns="0" tIns="0" rIns="0" bIns="0" rtlCol="0" anchor="t"/>
          <a:lstStyle/>
          <a:p>
            <a:pPr indent="0" marL="0">
              <a:buNone/>
            </a:pPr>
            <a:r>
              <a:rPr lang="en-US" sz="1600" dirty="0">
                <a:solidFill>
                  <a:schemeClr val="tx2"/>
                </a:solidFill>
              </a:rPr>
              <a:t>Buyers arrive at the test drive already in love with the car.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Browse freely, log in only when you commit</a:t>
            </a:r>
            <a:endParaRPr lang="en-US" sz="3400" dirty="0"/>
          </a:p>
        </p:txBody>
      </p:sp>
      <p:sp>
        <p:nvSpPr>
          <p:cNvPr id="3" name="login step number 1"/>
          <p:cNvSpPr/>
          <p:nvPr/>
        </p:nvSpPr>
        <p:spPr>
          <a:xfrm>
            <a:off x="548640" y="1508760"/>
            <a:ext cx="685800" cy="685800"/>
          </a:xfrm>
          <a:prstGeom prst="ellipse">
            <a:avLst/>
          </a:prstGeom>
          <a:solidFill>
            <a:schemeClr val="tx1"/>
          </a:solidFill>
          <a:ln w="12700">
            <a:solidFill>
              <a:schemeClr val="bg1"/>
            </a:solidFill>
            <a:prstDash val="solid"/>
          </a:ln>
        </p:spPr>
      </p:sp>
      <p:sp>
        <p:nvSpPr>
          <p:cNvPr id="4" name="Text 2"/>
          <p:cNvSpPr txBox="1"/>
          <p:nvPr/>
        </p:nvSpPr>
        <p:spPr>
          <a:xfrm>
            <a:off x="548640" y="15087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1508760" y="1490472"/>
            <a:ext cx="5394960" cy="411480"/>
          </a:xfrm>
          <a:prstGeom prst="rect">
            <a:avLst/>
          </a:prstGeom>
          <a:noFill/>
          <a:ln/>
        </p:spPr>
        <p:txBody>
          <a:bodyPr wrap="square" lIns="0" tIns="0" rIns="0" bIns="0" rtlCol="0" anchor="t"/>
          <a:lstStyle/>
          <a:p>
            <a:pPr indent="0" marL="0">
              <a:buNone/>
            </a:pPr>
            <a:r>
              <a:rPr lang="en-US" sz="2100" b="1" dirty="0">
                <a:solidFill>
                  <a:schemeClr val="tx1"/>
                </a:solidFill>
              </a:rPr>
              <a:t>Anyone can browse</a:t>
            </a:r>
            <a:endParaRPr lang="en-US" sz="2100" dirty="0"/>
          </a:p>
        </p:txBody>
      </p:sp>
      <p:sp>
        <p:nvSpPr>
          <p:cNvPr id="6" name="Text 4"/>
          <p:cNvSpPr txBox="1"/>
          <p:nvPr/>
        </p:nvSpPr>
        <p:spPr>
          <a:xfrm>
            <a:off x="1508760" y="1965960"/>
            <a:ext cx="5394960" cy="822960"/>
          </a:xfrm>
          <a:prstGeom prst="rect">
            <a:avLst/>
          </a:prstGeom>
          <a:noFill/>
          <a:ln/>
        </p:spPr>
        <p:txBody>
          <a:bodyPr wrap="square" lIns="0" tIns="0" rIns="0" bIns="0" rtlCol="0" anchor="t"/>
          <a:lstStyle/>
          <a:p>
            <a:pPr indent="0" marL="0">
              <a:buNone/>
            </a:pPr>
            <a:r>
              <a:rPr lang="en-US" sz="1600" dirty="0">
                <a:solidFill>
                  <a:schemeClr val="tx2"/>
                </a:solidFill>
              </a:rPr>
              <a:t>Cars, prices, brochures and the 360° view need no account.</a:t>
            </a:r>
            <a:endParaRPr lang="en-US" sz="1600" dirty="0"/>
          </a:p>
        </p:txBody>
      </p:sp>
      <p:sp>
        <p:nvSpPr>
          <p:cNvPr id="7" name="login step number 2"/>
          <p:cNvSpPr/>
          <p:nvPr/>
        </p:nvSpPr>
        <p:spPr>
          <a:xfrm>
            <a:off x="548640" y="2880360"/>
            <a:ext cx="685800" cy="685800"/>
          </a:xfrm>
          <a:prstGeom prst="ellipse">
            <a:avLst/>
          </a:prstGeom>
          <a:solidFill>
            <a:schemeClr val="accent1"/>
          </a:solidFill>
          <a:ln w="12700">
            <a:solidFill>
              <a:schemeClr val="bg1"/>
            </a:solidFill>
            <a:prstDash val="solid"/>
          </a:ln>
        </p:spPr>
      </p:sp>
      <p:sp>
        <p:nvSpPr>
          <p:cNvPr id="8" name="Text 6"/>
          <p:cNvSpPr txBox="1"/>
          <p:nvPr/>
        </p:nvSpPr>
        <p:spPr>
          <a:xfrm>
            <a:off x="548640" y="2880360"/>
            <a:ext cx="685800" cy="68580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9" name="Text 7"/>
          <p:cNvSpPr txBox="1"/>
          <p:nvPr/>
        </p:nvSpPr>
        <p:spPr>
          <a:xfrm>
            <a:off x="1508760" y="2862072"/>
            <a:ext cx="5394960" cy="411480"/>
          </a:xfrm>
          <a:prstGeom prst="rect">
            <a:avLst/>
          </a:prstGeom>
          <a:noFill/>
          <a:ln/>
        </p:spPr>
        <p:txBody>
          <a:bodyPr wrap="square" lIns="0" tIns="0" rIns="0" bIns="0" rtlCol="0" anchor="t"/>
          <a:lstStyle/>
          <a:p>
            <a:pPr indent="0" marL="0">
              <a:buNone/>
            </a:pPr>
            <a:r>
              <a:rPr lang="en-US" sz="2100" b="1" dirty="0">
                <a:solidFill>
                  <a:schemeClr val="tx1"/>
                </a:solidFill>
              </a:rPr>
              <a:t>Asked to log in at the right moment</a:t>
            </a:r>
            <a:endParaRPr lang="en-US" sz="2100" dirty="0"/>
          </a:p>
        </p:txBody>
      </p:sp>
      <p:sp>
        <p:nvSpPr>
          <p:cNvPr id="10" name="Text 8"/>
          <p:cNvSpPr txBox="1"/>
          <p:nvPr/>
        </p:nvSpPr>
        <p:spPr>
          <a:xfrm>
            <a:off x="1508760" y="3337560"/>
            <a:ext cx="5394960" cy="822960"/>
          </a:xfrm>
          <a:prstGeom prst="rect">
            <a:avLst/>
          </a:prstGeom>
          <a:noFill/>
          <a:ln/>
        </p:spPr>
        <p:txBody>
          <a:bodyPr wrap="square" lIns="0" tIns="0" rIns="0" bIns="0" rtlCol="0" anchor="t"/>
          <a:lstStyle/>
          <a:p>
            <a:pPr indent="0" marL="0">
              <a:buNone/>
            </a:pPr>
            <a:r>
              <a:rPr lang="en-US" sz="1600" dirty="0">
                <a:solidFill>
                  <a:schemeClr val="tx2"/>
                </a:solidFill>
              </a:rPr>
              <a:t>When a customer goes to book a test drive or reserve a car, they are asked to log in or sign up first.</a:t>
            </a:r>
            <a:endParaRPr lang="en-US" sz="1600" dirty="0"/>
          </a:p>
        </p:txBody>
      </p:sp>
      <p:sp>
        <p:nvSpPr>
          <p:cNvPr id="11" name="login step number 3"/>
          <p:cNvSpPr/>
          <p:nvPr/>
        </p:nvSpPr>
        <p:spPr>
          <a:xfrm>
            <a:off x="548640" y="4251960"/>
            <a:ext cx="685800" cy="685800"/>
          </a:xfrm>
          <a:prstGeom prst="ellipse">
            <a:avLst/>
          </a:prstGeom>
          <a:solidFill>
            <a:schemeClr val="tx1"/>
          </a:solidFill>
          <a:ln w="12700">
            <a:solidFill>
              <a:schemeClr val="bg1"/>
            </a:solidFill>
            <a:prstDash val="solid"/>
          </a:ln>
        </p:spPr>
      </p:sp>
      <p:sp>
        <p:nvSpPr>
          <p:cNvPr id="12" name="Text 10"/>
          <p:cNvSpPr txBox="1"/>
          <p:nvPr/>
        </p:nvSpPr>
        <p:spPr>
          <a:xfrm>
            <a:off x="548640" y="425196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3" name="Text 11"/>
          <p:cNvSpPr txBox="1"/>
          <p:nvPr/>
        </p:nvSpPr>
        <p:spPr>
          <a:xfrm>
            <a:off x="1508760" y="4233672"/>
            <a:ext cx="5394960" cy="411480"/>
          </a:xfrm>
          <a:prstGeom prst="rect">
            <a:avLst/>
          </a:prstGeom>
          <a:noFill/>
          <a:ln/>
        </p:spPr>
        <p:txBody>
          <a:bodyPr wrap="square" lIns="0" tIns="0" rIns="0" bIns="0" rtlCol="0" anchor="t"/>
          <a:lstStyle/>
          <a:p>
            <a:pPr indent="0" marL="0">
              <a:buNone/>
            </a:pPr>
            <a:r>
              <a:rPr lang="en-US" sz="2100" b="1" dirty="0">
                <a:solidFill>
                  <a:schemeClr val="tx1"/>
                </a:solidFill>
              </a:rPr>
              <a:t>Then carry on booking</a:t>
            </a:r>
            <a:endParaRPr lang="en-US" sz="2100" dirty="0"/>
          </a:p>
        </p:txBody>
      </p:sp>
      <p:sp>
        <p:nvSpPr>
          <p:cNvPr id="14" name="Text 12"/>
          <p:cNvSpPr txBox="1"/>
          <p:nvPr/>
        </p:nvSpPr>
        <p:spPr>
          <a:xfrm>
            <a:off x="1508760" y="4709160"/>
            <a:ext cx="5394960" cy="822960"/>
          </a:xfrm>
          <a:prstGeom prst="rect">
            <a:avLst/>
          </a:prstGeom>
          <a:noFill/>
          <a:ln/>
        </p:spPr>
        <p:txBody>
          <a:bodyPr wrap="square" lIns="0" tIns="0" rIns="0" bIns="0" rtlCol="0" anchor="t"/>
          <a:lstStyle/>
          <a:p>
            <a:pPr indent="0" marL="0">
              <a:buNone/>
            </a:pPr>
            <a:r>
              <a:rPr lang="en-US" sz="1600" dirty="0">
                <a:solidFill>
                  <a:schemeClr val="tx2"/>
                </a:solidFill>
              </a:rPr>
              <a:t>With an account, they continue straight into their booking.</a:t>
            </a:r>
            <a:endParaRPr lang="en-US" sz="1600" dirty="0"/>
          </a:p>
        </p:txBody>
      </p:sp>
      <p:sp>
        <p:nvSpPr>
          <p:cNvPr id="15" name="login why"/>
          <p:cNvSpPr/>
          <p:nvPr/>
        </p:nvSpPr>
        <p:spPr>
          <a:xfrm>
            <a:off x="548640" y="5486400"/>
            <a:ext cx="6400800" cy="640080"/>
          </a:xfrm>
          <a:prstGeom prst="roundRect">
            <a:avLst>
              <a:gd name="adj" fmla="val 20000"/>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16" name="Text 14"/>
          <p:cNvSpPr txBox="1"/>
          <p:nvPr/>
        </p:nvSpPr>
        <p:spPr>
          <a:xfrm>
            <a:off x="822960" y="5486400"/>
            <a:ext cx="5943600" cy="640080"/>
          </a:xfrm>
          <a:prstGeom prst="rect">
            <a:avLst/>
          </a:prstGeom>
          <a:noFill/>
          <a:ln/>
        </p:spPr>
        <p:txBody>
          <a:bodyPr wrap="square" lIns="0" tIns="0" rIns="0" bIns="0" rtlCol="0" anchor="ctr"/>
          <a:lstStyle/>
          <a:p>
            <a:pPr indent="0" marL="0">
              <a:buNone/>
            </a:pPr>
            <a:r>
              <a:rPr lang="en-US" sz="1700" b="1" dirty="0">
                <a:solidFill>
                  <a:schemeClr val="bg1"/>
                </a:solidFill>
              </a:rPr>
              <a:t>Every booking belongs to a real customer account.</a:t>
            </a:r>
            <a:endParaRPr lang="en-US" sz="1700" dirty="0"/>
          </a:p>
        </p:txBody>
      </p:sp>
      <p:sp>
        <p:nvSpPr>
          <p:cNvPr id="17" name="login screen frame"/>
          <p:cNvSpPr/>
          <p:nvPr/>
        </p:nvSpPr>
        <p:spPr>
          <a:xfrm>
            <a:off x="7772400" y="1508760"/>
            <a:ext cx="3840480" cy="3913632"/>
          </a:xfrm>
          <a:prstGeom prst="roundRect">
            <a:avLst>
              <a:gd name="adj" fmla="val 2857"/>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8" name="login screen" descr="The VirtualDrive customer login screen with email and password">    </p:cNvPr>
          <p:cNvPicPr>
            <a:picLocks noChangeAspect="1"/>
          </p:cNvPicPr>
          <p:nvPr/>
        </p:nvPicPr>
        <p:blipFill>
          <a:blip r:embed="rId1"/>
          <a:stretch>
            <a:fillRect/>
          </a:stretch>
        </p:blipFill>
        <p:spPr>
          <a:xfrm>
            <a:off x="7863840" y="1600200"/>
            <a:ext cx="3657600" cy="373075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3: Book a test drive in under a minute</a:t>
            </a:r>
            <a:endParaRPr lang="en-US" sz="3400" dirty="0"/>
          </a:p>
        </p:txBody>
      </p:sp>
      <p:sp>
        <p:nvSpPr>
          <p:cNvPr id="3" name="td step 1"/>
          <p:cNvSpPr/>
          <p:nvPr/>
        </p:nvSpPr>
        <p:spPr>
          <a:xfrm>
            <a:off x="548640"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td icon 1 bg"/>
          <p:cNvSpPr/>
          <p:nvPr/>
        </p:nvSpPr>
        <p:spPr>
          <a:xfrm>
            <a:off x="822960" y="1783080"/>
            <a:ext cx="685800" cy="685800"/>
          </a:xfrm>
          <a:prstGeom prst="ellipse">
            <a:avLst/>
          </a:prstGeom>
          <a:solidFill>
            <a:srgbClr val="1B4D3E"/>
          </a:solidFill>
          <a:ln w="12700">
            <a:solidFill>
              <a:srgbClr val="1B4D3E"/>
            </a:solidFill>
            <a:prstDash val="solid"/>
          </a:ln>
        </p:spPr>
      </p:sp>
      <p:pic>
        <p:nvPicPr>
          <p:cNvPr id="5" name="td icon 1" descr="FiLogIn">    </p:cNvPr>
          <p:cNvPicPr>
            <a:picLocks noChangeAspect="1"/>
          </p:cNvPicPr>
          <p:nvPr/>
        </p:nvPicPr>
        <p:blipFill>
          <a:blip r:embed="rId1"/>
          <a:stretch>
            <a:fillRect/>
          </a:stretch>
        </p:blipFill>
        <p:spPr>
          <a:xfrm>
            <a:off x="1001268" y="1961388"/>
            <a:ext cx="329184" cy="329184"/>
          </a:xfrm>
          <a:prstGeom prst="rect">
            <a:avLst/>
          </a:prstGeom>
        </p:spPr>
      </p:pic>
      <p:sp>
        <p:nvSpPr>
          <p:cNvPr id="6" name="Text 3"/>
          <p:cNvSpPr txBox="1"/>
          <p:nvPr/>
        </p:nvSpPr>
        <p:spPr>
          <a:xfrm>
            <a:off x="822960"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Log in</a:t>
            </a:r>
            <a:endParaRPr lang="en-US" sz="2000" dirty="0"/>
          </a:p>
        </p:txBody>
      </p:sp>
      <p:sp>
        <p:nvSpPr>
          <p:cNvPr id="7" name="Text 4"/>
          <p:cNvSpPr txBox="1"/>
          <p:nvPr/>
        </p:nvSpPr>
        <p:spPr>
          <a:xfrm>
            <a:off x="822960"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A quick account keeps bookings safe</a:t>
            </a:r>
            <a:endParaRPr lang="en-US" sz="1600" dirty="0"/>
          </a:p>
        </p:txBody>
      </p:sp>
      <p:sp>
        <p:nvSpPr>
          <p:cNvPr id="8" name="td arrow 1"/>
          <p:cNvSpPr/>
          <p:nvPr/>
        </p:nvSpPr>
        <p:spPr>
          <a:xfrm>
            <a:off x="3172968" y="2697480"/>
            <a:ext cx="182880" cy="274320"/>
          </a:xfrm>
          <a:prstGeom prst="rightArrow">
            <a:avLst/>
          </a:prstGeom>
          <a:solidFill>
            <a:schemeClr val="accent2"/>
          </a:solidFill>
          <a:ln w="12700">
            <a:solidFill>
              <a:schemeClr val="accent2"/>
            </a:solidFill>
            <a:prstDash val="solid"/>
          </a:ln>
        </p:spPr>
      </p:sp>
      <p:sp>
        <p:nvSpPr>
          <p:cNvPr id="9" name="td step 2"/>
          <p:cNvSpPr/>
          <p:nvPr/>
        </p:nvSpPr>
        <p:spPr>
          <a:xfrm>
            <a:off x="3364992"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0" name="td icon 2 bg"/>
          <p:cNvSpPr/>
          <p:nvPr/>
        </p:nvSpPr>
        <p:spPr>
          <a:xfrm>
            <a:off x="3639312" y="1783080"/>
            <a:ext cx="685800" cy="685800"/>
          </a:xfrm>
          <a:prstGeom prst="ellipse">
            <a:avLst/>
          </a:prstGeom>
          <a:solidFill>
            <a:srgbClr val="1B4D3E"/>
          </a:solidFill>
          <a:ln w="12700">
            <a:solidFill>
              <a:srgbClr val="1B4D3E"/>
            </a:solidFill>
            <a:prstDash val="solid"/>
          </a:ln>
        </p:spPr>
      </p:sp>
      <p:pic>
        <p:nvPicPr>
          <p:cNvPr id="11" name="td icon 2" descr="FiList">    </p:cNvPr>
          <p:cNvPicPr>
            <a:picLocks noChangeAspect="1"/>
          </p:cNvPicPr>
          <p:nvPr/>
        </p:nvPicPr>
        <p:blipFill>
          <a:blip r:embed="rId2"/>
          <a:stretch>
            <a:fillRect/>
          </a:stretch>
        </p:blipFill>
        <p:spPr>
          <a:xfrm>
            <a:off x="3817620" y="1961388"/>
            <a:ext cx="329184" cy="329184"/>
          </a:xfrm>
          <a:prstGeom prst="rect">
            <a:avLst/>
          </a:prstGeom>
        </p:spPr>
      </p:pic>
      <p:sp>
        <p:nvSpPr>
          <p:cNvPr id="12" name="Text 8"/>
          <p:cNvSpPr txBox="1"/>
          <p:nvPr/>
        </p:nvSpPr>
        <p:spPr>
          <a:xfrm>
            <a:off x="3639312"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Choose the car</a:t>
            </a:r>
            <a:endParaRPr lang="en-US" sz="2000" dirty="0"/>
          </a:p>
        </p:txBody>
      </p:sp>
      <p:sp>
        <p:nvSpPr>
          <p:cNvPr id="13" name="Text 9"/>
          <p:cNvSpPr txBox="1"/>
          <p:nvPr/>
        </p:nvSpPr>
        <p:spPr>
          <a:xfrm>
            <a:off x="3639312"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Model and variant they want to drive</a:t>
            </a:r>
            <a:endParaRPr lang="en-US" sz="1600" dirty="0"/>
          </a:p>
        </p:txBody>
      </p:sp>
      <p:sp>
        <p:nvSpPr>
          <p:cNvPr id="14" name="td arrow 2"/>
          <p:cNvSpPr/>
          <p:nvPr/>
        </p:nvSpPr>
        <p:spPr>
          <a:xfrm>
            <a:off x="5989320" y="2697480"/>
            <a:ext cx="182880" cy="274320"/>
          </a:xfrm>
          <a:prstGeom prst="rightArrow">
            <a:avLst/>
          </a:prstGeom>
          <a:solidFill>
            <a:schemeClr val="accent2"/>
          </a:solidFill>
          <a:ln w="12700">
            <a:solidFill>
              <a:schemeClr val="accent2"/>
            </a:solidFill>
            <a:prstDash val="solid"/>
          </a:ln>
        </p:spPr>
      </p:sp>
      <p:sp>
        <p:nvSpPr>
          <p:cNvPr id="15" name="td step 3"/>
          <p:cNvSpPr/>
          <p:nvPr/>
        </p:nvSpPr>
        <p:spPr>
          <a:xfrm>
            <a:off x="6181344"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6" name="td icon 3 bg"/>
          <p:cNvSpPr/>
          <p:nvPr/>
        </p:nvSpPr>
        <p:spPr>
          <a:xfrm>
            <a:off x="6455664" y="1783080"/>
            <a:ext cx="685800" cy="685800"/>
          </a:xfrm>
          <a:prstGeom prst="ellipse">
            <a:avLst/>
          </a:prstGeom>
          <a:solidFill>
            <a:srgbClr val="1B4D3E"/>
          </a:solidFill>
          <a:ln w="12700">
            <a:solidFill>
              <a:srgbClr val="1B4D3E"/>
            </a:solidFill>
            <a:prstDash val="solid"/>
          </a:ln>
        </p:spPr>
      </p:sp>
      <p:pic>
        <p:nvPicPr>
          <p:cNvPr id="17" name="td icon 3" descr="FiClock">    </p:cNvPr>
          <p:cNvPicPr>
            <a:picLocks noChangeAspect="1"/>
          </p:cNvPicPr>
          <p:nvPr/>
        </p:nvPicPr>
        <p:blipFill>
          <a:blip r:embed="rId3"/>
          <a:stretch>
            <a:fillRect/>
          </a:stretch>
        </p:blipFill>
        <p:spPr>
          <a:xfrm>
            <a:off x="6633972" y="1961388"/>
            <a:ext cx="329184" cy="329184"/>
          </a:xfrm>
          <a:prstGeom prst="rect">
            <a:avLst/>
          </a:prstGeom>
        </p:spPr>
      </p:pic>
      <p:sp>
        <p:nvSpPr>
          <p:cNvPr id="18" name="Text 13"/>
          <p:cNvSpPr txBox="1"/>
          <p:nvPr/>
        </p:nvSpPr>
        <p:spPr>
          <a:xfrm>
            <a:off x="6455664"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Pick a slot</a:t>
            </a:r>
            <a:endParaRPr lang="en-US" sz="2000" dirty="0"/>
          </a:p>
        </p:txBody>
      </p:sp>
      <p:sp>
        <p:nvSpPr>
          <p:cNvPr id="19" name="Text 14"/>
          <p:cNvSpPr txBox="1"/>
          <p:nvPr/>
        </p:nvSpPr>
        <p:spPr>
          <a:xfrm>
            <a:off x="6455664"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Date, time, location and phone number</a:t>
            </a:r>
            <a:endParaRPr lang="en-US" sz="1600" dirty="0"/>
          </a:p>
        </p:txBody>
      </p:sp>
      <p:sp>
        <p:nvSpPr>
          <p:cNvPr id="20" name="td arrow 3"/>
          <p:cNvSpPr/>
          <p:nvPr/>
        </p:nvSpPr>
        <p:spPr>
          <a:xfrm>
            <a:off x="8805672" y="2697480"/>
            <a:ext cx="182880" cy="274320"/>
          </a:xfrm>
          <a:prstGeom prst="rightArrow">
            <a:avLst/>
          </a:prstGeom>
          <a:solidFill>
            <a:schemeClr val="accent2"/>
          </a:solidFill>
          <a:ln w="12700">
            <a:solidFill>
              <a:schemeClr val="accent2"/>
            </a:solidFill>
            <a:prstDash val="solid"/>
          </a:ln>
        </p:spPr>
      </p:sp>
      <p:sp>
        <p:nvSpPr>
          <p:cNvPr id="21" name="td step 4"/>
          <p:cNvSpPr/>
          <p:nvPr/>
        </p:nvSpPr>
        <p:spPr>
          <a:xfrm>
            <a:off x="8997696"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22" name="td icon 4 bg"/>
          <p:cNvSpPr/>
          <p:nvPr/>
        </p:nvSpPr>
        <p:spPr>
          <a:xfrm>
            <a:off x="9272016" y="1783080"/>
            <a:ext cx="685800" cy="685800"/>
          </a:xfrm>
          <a:prstGeom prst="ellipse">
            <a:avLst/>
          </a:prstGeom>
          <a:solidFill>
            <a:srgbClr val="FFC629"/>
          </a:solidFill>
          <a:ln w="12700">
            <a:solidFill>
              <a:srgbClr val="FFC629"/>
            </a:solidFill>
            <a:prstDash val="solid"/>
          </a:ln>
        </p:spPr>
      </p:sp>
      <p:pic>
        <p:nvPicPr>
          <p:cNvPr id="23" name="td icon 4" descr="FiCheckCircle">    </p:cNvPr>
          <p:cNvPicPr>
            <a:picLocks noChangeAspect="1"/>
          </p:cNvPicPr>
          <p:nvPr/>
        </p:nvPicPr>
        <p:blipFill>
          <a:blip r:embed="rId4"/>
          <a:stretch>
            <a:fillRect/>
          </a:stretch>
        </p:blipFill>
        <p:spPr>
          <a:xfrm>
            <a:off x="9450324" y="1961388"/>
            <a:ext cx="329184" cy="329184"/>
          </a:xfrm>
          <a:prstGeom prst="rect">
            <a:avLst/>
          </a:prstGeom>
        </p:spPr>
      </p:pic>
      <p:sp>
        <p:nvSpPr>
          <p:cNvPr id="24" name="Text 18"/>
          <p:cNvSpPr txBox="1"/>
          <p:nvPr/>
        </p:nvSpPr>
        <p:spPr>
          <a:xfrm>
            <a:off x="9272016" y="26517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Get a reference</a:t>
            </a:r>
            <a:endParaRPr lang="en-US" sz="2000" dirty="0"/>
          </a:p>
        </p:txBody>
      </p:sp>
      <p:sp>
        <p:nvSpPr>
          <p:cNvPr id="25" name="Text 19"/>
          <p:cNvSpPr txBox="1"/>
          <p:nvPr/>
        </p:nvSpPr>
        <p:spPr>
          <a:xfrm>
            <a:off x="9272016" y="3154680"/>
            <a:ext cx="2103120" cy="914400"/>
          </a:xfrm>
          <a:prstGeom prst="rect">
            <a:avLst/>
          </a:prstGeom>
          <a:noFill/>
          <a:ln/>
        </p:spPr>
        <p:txBody>
          <a:bodyPr wrap="square" lIns="0" tIns="0" rIns="0" bIns="0" rtlCol="0" anchor="t"/>
          <a:lstStyle/>
          <a:p>
            <a:pPr indent="0" marL="0">
              <a:buNone/>
            </a:pPr>
            <a:r>
              <a:rPr lang="en-US" sz="1600" dirty="0">
                <a:solidFill>
                  <a:schemeClr val="tx2"/>
                </a:solidFill>
              </a:rPr>
              <a:t>A booking number confirms it instantly</a:t>
            </a:r>
            <a:endParaRPr lang="en-US" sz="1600" dirty="0"/>
          </a:p>
        </p:txBody>
      </p:sp>
      <p:sp>
        <p:nvSpPr>
          <p:cNvPr id="26" name="td note"/>
          <p:cNvSpPr/>
          <p:nvPr/>
        </p:nvSpPr>
        <p:spPr>
          <a:xfrm>
            <a:off x="548640" y="4572000"/>
            <a:ext cx="11064240" cy="1371600"/>
          </a:xfrm>
          <a:prstGeom prst="roundRect">
            <a:avLst>
              <a:gd name="adj" fmla="val 9333"/>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27" name="Text 21"/>
          <p:cNvSpPr txBox="1"/>
          <p:nvPr/>
        </p:nvSpPr>
        <p:spPr>
          <a:xfrm>
            <a:off x="868680" y="4572000"/>
            <a:ext cx="10424160" cy="1371600"/>
          </a:xfrm>
          <a:prstGeom prst="rect">
            <a:avLst/>
          </a:prstGeom>
          <a:noFill/>
          <a:ln/>
        </p:spPr>
        <p:txBody>
          <a:bodyPr wrap="square" lIns="0" tIns="0" rIns="0" bIns="0" rtlCol="0" anchor="ctr"/>
          <a:lstStyle/>
          <a:p>
            <a:pPr indent="0" marL="0">
              <a:buNone/>
            </a:pPr>
            <a:r>
              <a:rPr lang="en-US" sz="1800" b="1" dirty="0">
                <a:solidFill>
                  <a:schemeClr val="accent1"/>
                </a:solidFill>
              </a:rPr>
              <a:t>What your team receives: </a:t>
            </a:r>
            <a:pPr indent="0" marL="0">
              <a:buNone/>
            </a:pPr>
            <a:r>
              <a:rPr lang="en-US" sz="1800" dirty="0">
                <a:solidFill>
                  <a:schemeClr val="bg1"/>
                </a:solidFill>
              </a:rPr>
              <a:t>the customer's name, phone number, chosen car, date, time and location, all saved together under one booking reference. A customer cannot book the same variant twice, so there are no duplicate requests.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Step 4: Reserve the car with a small online payment</a:t>
            </a:r>
            <a:endParaRPr lang="en-US" sz="3400" dirty="0"/>
          </a:p>
        </p:txBody>
      </p:sp>
      <p:sp>
        <p:nvSpPr>
          <p:cNvPr id="3" name="buy step 1"/>
          <p:cNvSpPr/>
          <p:nvPr/>
        </p:nvSpPr>
        <p:spPr>
          <a:xfrm>
            <a:off x="548640"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buy icon 1 bg"/>
          <p:cNvSpPr/>
          <p:nvPr/>
        </p:nvSpPr>
        <p:spPr>
          <a:xfrm>
            <a:off x="822960" y="1783080"/>
            <a:ext cx="685800" cy="685800"/>
          </a:xfrm>
          <a:prstGeom prst="ellipse">
            <a:avLst/>
          </a:prstGeom>
          <a:solidFill>
            <a:srgbClr val="1B8A6B"/>
          </a:solidFill>
          <a:ln w="12700">
            <a:solidFill>
              <a:srgbClr val="1B8A6B"/>
            </a:solidFill>
            <a:prstDash val="solid"/>
          </a:ln>
        </p:spPr>
      </p:sp>
      <p:pic>
        <p:nvPicPr>
          <p:cNvPr id="5" name="buy icon 1" descr="FiList">    </p:cNvPr>
          <p:cNvPicPr>
            <a:picLocks noChangeAspect="1"/>
          </p:cNvPicPr>
          <p:nvPr/>
        </p:nvPicPr>
        <p:blipFill>
          <a:blip r:embed="rId1"/>
          <a:stretch>
            <a:fillRect/>
          </a:stretch>
        </p:blipFill>
        <p:spPr>
          <a:xfrm>
            <a:off x="1001268" y="1961388"/>
            <a:ext cx="329184" cy="329184"/>
          </a:xfrm>
          <a:prstGeom prst="rect">
            <a:avLst/>
          </a:prstGeom>
        </p:spPr>
      </p:pic>
      <p:sp>
        <p:nvSpPr>
          <p:cNvPr id="6" name="Text 3"/>
          <p:cNvSpPr txBox="1"/>
          <p:nvPr/>
        </p:nvSpPr>
        <p:spPr>
          <a:xfrm>
            <a:off x="822960"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Choose the variant</a:t>
            </a:r>
            <a:endParaRPr lang="en-US" sz="1900" dirty="0"/>
          </a:p>
        </p:txBody>
      </p:sp>
      <p:sp>
        <p:nvSpPr>
          <p:cNvPr id="7" name="Text 4"/>
          <p:cNvSpPr txBox="1"/>
          <p:nvPr/>
        </p:nvSpPr>
        <p:spPr>
          <a:xfrm>
            <a:off x="822960"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Exact model, fuel and colour</a:t>
            </a:r>
            <a:endParaRPr lang="en-US" sz="1600" dirty="0"/>
          </a:p>
        </p:txBody>
      </p:sp>
      <p:sp>
        <p:nvSpPr>
          <p:cNvPr id="8" name="buy arrow 1"/>
          <p:cNvSpPr/>
          <p:nvPr/>
        </p:nvSpPr>
        <p:spPr>
          <a:xfrm>
            <a:off x="3172968" y="2697480"/>
            <a:ext cx="182880" cy="274320"/>
          </a:xfrm>
          <a:prstGeom prst="rightArrow">
            <a:avLst/>
          </a:prstGeom>
          <a:solidFill>
            <a:schemeClr val="accent2"/>
          </a:solidFill>
          <a:ln w="12700">
            <a:solidFill>
              <a:schemeClr val="accent2"/>
            </a:solidFill>
            <a:prstDash val="solid"/>
          </a:ln>
        </p:spPr>
      </p:sp>
      <p:sp>
        <p:nvSpPr>
          <p:cNvPr id="9" name="buy step 2"/>
          <p:cNvSpPr/>
          <p:nvPr/>
        </p:nvSpPr>
        <p:spPr>
          <a:xfrm>
            <a:off x="3364992"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0" name="buy icon 2 bg"/>
          <p:cNvSpPr/>
          <p:nvPr/>
        </p:nvSpPr>
        <p:spPr>
          <a:xfrm>
            <a:off x="3639312" y="1783080"/>
            <a:ext cx="685800" cy="685800"/>
          </a:xfrm>
          <a:prstGeom prst="ellipse">
            <a:avLst/>
          </a:prstGeom>
          <a:solidFill>
            <a:srgbClr val="1B8A6B"/>
          </a:solidFill>
          <a:ln w="12700">
            <a:solidFill>
              <a:srgbClr val="1B8A6B"/>
            </a:solidFill>
            <a:prstDash val="solid"/>
          </a:ln>
        </p:spPr>
      </p:sp>
      <p:pic>
        <p:nvPicPr>
          <p:cNvPr id="11" name="buy icon 2" descr="FiLock">    </p:cNvPr>
          <p:cNvPicPr>
            <a:picLocks noChangeAspect="1"/>
          </p:cNvPicPr>
          <p:nvPr/>
        </p:nvPicPr>
        <p:blipFill>
          <a:blip r:embed="rId2"/>
          <a:stretch>
            <a:fillRect/>
          </a:stretch>
        </p:blipFill>
        <p:spPr>
          <a:xfrm>
            <a:off x="3817620" y="1961388"/>
            <a:ext cx="329184" cy="329184"/>
          </a:xfrm>
          <a:prstGeom prst="rect">
            <a:avLst/>
          </a:prstGeom>
        </p:spPr>
      </p:pic>
      <p:sp>
        <p:nvSpPr>
          <p:cNvPr id="12" name="Text 8"/>
          <p:cNvSpPr txBox="1"/>
          <p:nvPr/>
        </p:nvSpPr>
        <p:spPr>
          <a:xfrm>
            <a:off x="3639312"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Pay a small booking amount</a:t>
            </a:r>
            <a:endParaRPr lang="en-US" sz="1900" dirty="0"/>
          </a:p>
        </p:txBody>
      </p:sp>
      <p:sp>
        <p:nvSpPr>
          <p:cNvPr id="13" name="Text 9"/>
          <p:cNvSpPr txBox="1"/>
          <p:nvPr/>
        </p:nvSpPr>
        <p:spPr>
          <a:xfrm>
            <a:off x="3639312"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Securely, through Razorpay</a:t>
            </a:r>
            <a:endParaRPr lang="en-US" sz="1600" dirty="0"/>
          </a:p>
        </p:txBody>
      </p:sp>
      <p:sp>
        <p:nvSpPr>
          <p:cNvPr id="14" name="buy arrow 2"/>
          <p:cNvSpPr/>
          <p:nvPr/>
        </p:nvSpPr>
        <p:spPr>
          <a:xfrm>
            <a:off x="5989320" y="2697480"/>
            <a:ext cx="182880" cy="274320"/>
          </a:xfrm>
          <a:prstGeom prst="rightArrow">
            <a:avLst/>
          </a:prstGeom>
          <a:solidFill>
            <a:schemeClr val="accent2"/>
          </a:solidFill>
          <a:ln w="12700">
            <a:solidFill>
              <a:schemeClr val="accent2"/>
            </a:solidFill>
            <a:prstDash val="solid"/>
          </a:ln>
        </p:spPr>
      </p:sp>
      <p:sp>
        <p:nvSpPr>
          <p:cNvPr id="15" name="buy step 3"/>
          <p:cNvSpPr/>
          <p:nvPr/>
        </p:nvSpPr>
        <p:spPr>
          <a:xfrm>
            <a:off x="6181344"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6" name="buy icon 3 bg"/>
          <p:cNvSpPr/>
          <p:nvPr/>
        </p:nvSpPr>
        <p:spPr>
          <a:xfrm>
            <a:off x="6455664" y="1783080"/>
            <a:ext cx="685800" cy="685800"/>
          </a:xfrm>
          <a:prstGeom prst="ellipse">
            <a:avLst/>
          </a:prstGeom>
          <a:solidFill>
            <a:srgbClr val="1B8A6B"/>
          </a:solidFill>
          <a:ln w="12700">
            <a:solidFill>
              <a:srgbClr val="1B8A6B"/>
            </a:solidFill>
            <a:prstDash val="solid"/>
          </a:ln>
        </p:spPr>
      </p:sp>
      <p:pic>
        <p:nvPicPr>
          <p:cNvPr id="17" name="buy icon 3" descr="FiShield">    </p:cNvPr>
          <p:cNvPicPr>
            <a:picLocks noChangeAspect="1"/>
          </p:cNvPicPr>
          <p:nvPr/>
        </p:nvPicPr>
        <p:blipFill>
          <a:blip r:embed="rId3"/>
          <a:stretch>
            <a:fillRect/>
          </a:stretch>
        </p:blipFill>
        <p:spPr>
          <a:xfrm>
            <a:off x="6633972" y="1961388"/>
            <a:ext cx="329184" cy="329184"/>
          </a:xfrm>
          <a:prstGeom prst="rect">
            <a:avLst/>
          </a:prstGeom>
        </p:spPr>
      </p:pic>
      <p:sp>
        <p:nvSpPr>
          <p:cNvPr id="18" name="Text 13"/>
          <p:cNvSpPr txBox="1"/>
          <p:nvPr/>
        </p:nvSpPr>
        <p:spPr>
          <a:xfrm>
            <a:off x="6455664"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Payment is verified</a:t>
            </a:r>
            <a:endParaRPr lang="en-US" sz="1900" dirty="0"/>
          </a:p>
        </p:txBody>
      </p:sp>
      <p:sp>
        <p:nvSpPr>
          <p:cNvPr id="19" name="Text 14"/>
          <p:cNvSpPr txBox="1"/>
          <p:nvPr/>
        </p:nvSpPr>
        <p:spPr>
          <a:xfrm>
            <a:off x="6455664"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We confirm it before anything is saved</a:t>
            </a:r>
            <a:endParaRPr lang="en-US" sz="1600" dirty="0"/>
          </a:p>
        </p:txBody>
      </p:sp>
      <p:sp>
        <p:nvSpPr>
          <p:cNvPr id="20" name="buy arrow 3"/>
          <p:cNvSpPr/>
          <p:nvPr/>
        </p:nvSpPr>
        <p:spPr>
          <a:xfrm>
            <a:off x="8805672" y="2697480"/>
            <a:ext cx="182880" cy="274320"/>
          </a:xfrm>
          <a:prstGeom prst="rightArrow">
            <a:avLst/>
          </a:prstGeom>
          <a:solidFill>
            <a:schemeClr val="accent2"/>
          </a:solidFill>
          <a:ln w="12700">
            <a:solidFill>
              <a:schemeClr val="accent2"/>
            </a:solidFill>
            <a:prstDash val="solid"/>
          </a:ln>
        </p:spPr>
      </p:sp>
      <p:sp>
        <p:nvSpPr>
          <p:cNvPr id="21" name="buy step 4"/>
          <p:cNvSpPr/>
          <p:nvPr/>
        </p:nvSpPr>
        <p:spPr>
          <a:xfrm>
            <a:off x="8997696" y="1554480"/>
            <a:ext cx="2606040" cy="2651760"/>
          </a:xfrm>
          <a:prstGeom prst="roundRect">
            <a:avLst>
              <a:gd name="adj" fmla="val 4912"/>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22" name="buy icon 4 bg"/>
          <p:cNvSpPr/>
          <p:nvPr/>
        </p:nvSpPr>
        <p:spPr>
          <a:xfrm>
            <a:off x="9272016" y="1783080"/>
            <a:ext cx="685800" cy="685800"/>
          </a:xfrm>
          <a:prstGeom prst="ellipse">
            <a:avLst/>
          </a:prstGeom>
          <a:solidFill>
            <a:srgbClr val="FFC629"/>
          </a:solidFill>
          <a:ln w="12700">
            <a:solidFill>
              <a:srgbClr val="FFC629"/>
            </a:solidFill>
            <a:prstDash val="solid"/>
          </a:ln>
        </p:spPr>
      </p:sp>
      <p:pic>
        <p:nvPicPr>
          <p:cNvPr id="23" name="buy icon 4" descr="FiCheckCircle">    </p:cNvPr>
          <p:cNvPicPr>
            <a:picLocks noChangeAspect="1"/>
          </p:cNvPicPr>
          <p:nvPr/>
        </p:nvPicPr>
        <p:blipFill>
          <a:blip r:embed="rId4"/>
          <a:stretch>
            <a:fillRect/>
          </a:stretch>
        </p:blipFill>
        <p:spPr>
          <a:xfrm>
            <a:off x="9450324" y="1961388"/>
            <a:ext cx="329184" cy="329184"/>
          </a:xfrm>
          <a:prstGeom prst="rect">
            <a:avLst/>
          </a:prstGeom>
        </p:spPr>
      </p:pic>
      <p:sp>
        <p:nvSpPr>
          <p:cNvPr id="24" name="Text 18"/>
          <p:cNvSpPr txBox="1"/>
          <p:nvPr/>
        </p:nvSpPr>
        <p:spPr>
          <a:xfrm>
            <a:off x="9272016" y="2651760"/>
            <a:ext cx="2103120" cy="731520"/>
          </a:xfrm>
          <a:prstGeom prst="rect">
            <a:avLst/>
          </a:prstGeom>
          <a:noFill/>
          <a:ln/>
        </p:spPr>
        <p:txBody>
          <a:bodyPr wrap="square" lIns="0" tIns="0" rIns="0" bIns="0" rtlCol="0" anchor="t"/>
          <a:lstStyle/>
          <a:p>
            <a:pPr indent="0" marL="0">
              <a:buNone/>
            </a:pPr>
            <a:r>
              <a:rPr lang="en-US" sz="1900" b="1" dirty="0">
                <a:solidFill>
                  <a:schemeClr val="tx1"/>
                </a:solidFill>
              </a:rPr>
              <a:t>Booking confirmed</a:t>
            </a:r>
            <a:endParaRPr lang="en-US" sz="1900" dirty="0"/>
          </a:p>
        </p:txBody>
      </p:sp>
      <p:sp>
        <p:nvSpPr>
          <p:cNvPr id="25" name="Text 19"/>
          <p:cNvSpPr txBox="1"/>
          <p:nvPr/>
        </p:nvSpPr>
        <p:spPr>
          <a:xfrm>
            <a:off x="9272016" y="3429000"/>
            <a:ext cx="2103120" cy="731520"/>
          </a:xfrm>
          <a:prstGeom prst="rect">
            <a:avLst/>
          </a:prstGeom>
          <a:noFill/>
          <a:ln/>
        </p:spPr>
        <p:txBody>
          <a:bodyPr wrap="square" lIns="0" tIns="0" rIns="0" bIns="0" rtlCol="0" anchor="t"/>
          <a:lstStyle/>
          <a:p>
            <a:pPr indent="0" marL="0">
              <a:buNone/>
            </a:pPr>
            <a:r>
              <a:rPr lang="en-US" sz="1600" dirty="0">
                <a:solidFill>
                  <a:schemeClr val="tx2"/>
                </a:solidFill>
              </a:rPr>
              <a:t>The customer gets a reference number</a:t>
            </a:r>
            <a:endParaRPr lang="en-US" sz="1600" dirty="0"/>
          </a:p>
        </p:txBody>
      </p:sp>
      <p:sp>
        <p:nvSpPr>
          <p:cNvPr id="26" name="buy note"/>
          <p:cNvSpPr/>
          <p:nvPr/>
        </p:nvSpPr>
        <p:spPr>
          <a:xfrm>
            <a:off x="548640" y="4572000"/>
            <a:ext cx="11064240" cy="1371600"/>
          </a:xfrm>
          <a:prstGeom prst="roundRect">
            <a:avLst>
              <a:gd name="adj" fmla="val 9333"/>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27" name="Text 21"/>
          <p:cNvSpPr txBox="1"/>
          <p:nvPr/>
        </p:nvSpPr>
        <p:spPr>
          <a:xfrm>
            <a:off x="868680" y="4572000"/>
            <a:ext cx="10424160" cy="1371600"/>
          </a:xfrm>
          <a:prstGeom prst="rect">
            <a:avLst/>
          </a:prstGeom>
          <a:noFill/>
          <a:ln/>
        </p:spPr>
        <p:txBody>
          <a:bodyPr wrap="square" lIns="0" tIns="0" rIns="0" bIns="0" rtlCol="0" anchor="ctr"/>
          <a:lstStyle/>
          <a:p>
            <a:pPr indent="0" marL="0">
              <a:buNone/>
            </a:pPr>
            <a:r>
              <a:rPr lang="en-US" sz="1800" b="1" dirty="0">
                <a:solidFill>
                  <a:schemeClr val="accent1"/>
                </a:solidFill>
              </a:rPr>
              <a:t>Committed buyers, not casual enquiries. </a:t>
            </a:r>
            <a:pPr indent="0" marL="0">
              <a:buNone/>
            </a:pPr>
            <a:r>
              <a:rPr lang="en-US" sz="1800" dirty="0">
                <a:solidFill>
                  <a:schemeClr val="bg1"/>
                </a:solidFill>
              </a:rPr>
              <a:t>A customer who has paid a booking amount is serious. The same variant cannot be paid for twice by the same customer, and the system checks this before any money is taken.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Why buyers choose to buy from us</a:t>
            </a:r>
            <a:endParaRPr lang="en-US" sz="3400" dirty="0"/>
          </a:p>
        </p:txBody>
      </p:sp>
      <p:sp>
        <p:nvSpPr>
          <p:cNvPr id="3" name="Rounded Rectangle 2"/>
          <p:cNvSpPr/>
          <p:nvPr/>
        </p:nvSpPr>
        <p:spPr>
          <a:xfrm>
            <a:off x="548640" y="1554480"/>
            <a:ext cx="3657600" cy="30175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3108960" cy="400000"/>
          </a:xfrm>
          <a:prstGeom prst="rect">
            <a:avLst/>
          </a:prstGeom>
          <a:noFill/>
        </p:spPr>
        <p:txBody>
          <a:bodyPr wrap="square" lIns="0" rIns="0" tIns="0" bIns="0" anchor="t">
            <a:spAutoFit/>
          </a:bodyPr>
          <a:lstStyle/>
          <a:p>
            <a:r>
              <a:rPr sz="2000" b="1">
                <a:solidFill>
                  <a:schemeClr val="tx2"/>
                </a:solidFill>
              </a:rPr>
              <a:t>Typical dealership</a:t>
            </a:r>
          </a:p>
        </p:txBody>
      </p:sp>
      <p:sp>
        <p:nvSpPr>
          <p:cNvPr id="5" name="TextBox 4"/>
          <p:cNvSpPr txBox="1"/>
          <p:nvPr/>
        </p:nvSpPr>
        <p:spPr>
          <a:xfrm>
            <a:off x="822960" y="2404480"/>
            <a:ext cx="3108960" cy="2000000"/>
          </a:xfrm>
          <a:prstGeom prst="rect">
            <a:avLst/>
          </a:prstGeom>
          <a:noFill/>
        </p:spPr>
        <p:txBody>
          <a:bodyPr wrap="square" lIns="0" rIns="0" tIns="0" bIns="0" anchor="t">
            <a:spAutoFit/>
          </a:bodyPr>
          <a:lstStyle/>
          <a:p>
            <a:r>
              <a:rPr sz="1600" b="0">
                <a:solidFill>
                  <a:schemeClr val="tx1"/>
                </a:solidFill>
              </a:rPr>
              <a:t>Higher processing charges</a:t>
            </a:r>
          </a:p>
          <a:p>
            <a:pPr>
              <a:spcBef>
                <a:spcPts val="1400"/>
              </a:spcBef>
            </a:pPr>
            <a:r>
              <a:rPr sz="1600" b="0">
                <a:solidFill>
                  <a:schemeClr val="tx1"/>
                </a:solidFill>
              </a:rPr>
              <a:t>Add-ons and accessories bundled into the bill</a:t>
            </a:r>
          </a:p>
          <a:p>
            <a:pPr>
              <a:spcBef>
                <a:spcPts val="1400"/>
              </a:spcBef>
            </a:pPr>
            <a:r>
              <a:rPr sz="1600" b="0">
                <a:solidFill>
                  <a:schemeClr val="tx1"/>
                </a:solidFill>
              </a:rPr>
              <a:t>Large advance and negotiation at the showroom</a:t>
            </a:r>
          </a:p>
        </p:txBody>
      </p:sp>
      <p:sp>
        <p:nvSpPr>
          <p:cNvPr id="6" name="Rounded Rectangle 5"/>
          <p:cNvSpPr/>
          <p:nvPr/>
        </p:nvSpPr>
        <p:spPr>
          <a:xfrm>
            <a:off x="4389120" y="1554480"/>
            <a:ext cx="3657600" cy="3017520"/>
          </a:xfrm>
          <a:prstGeom prst="roundRect">
            <a:avLst>
              <a:gd name="adj" fmla="val 6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1828800"/>
            <a:ext cx="3108960" cy="400000"/>
          </a:xfrm>
          <a:prstGeom prst="rect">
            <a:avLst/>
          </a:prstGeom>
          <a:noFill/>
        </p:spPr>
        <p:txBody>
          <a:bodyPr wrap="square" lIns="0" rIns="0" tIns="0" bIns="0" anchor="t">
            <a:spAutoFit/>
          </a:bodyPr>
          <a:lstStyle/>
          <a:p>
            <a:r>
              <a:rPr sz="2000" b="1">
                <a:solidFill>
                  <a:schemeClr val="accent1"/>
                </a:solidFill>
              </a:rPr>
              <a:t>VirtualDrive</a:t>
            </a:r>
          </a:p>
        </p:txBody>
      </p:sp>
      <p:sp>
        <p:nvSpPr>
          <p:cNvPr id="8" name="TextBox 7"/>
          <p:cNvSpPr txBox="1"/>
          <p:nvPr/>
        </p:nvSpPr>
        <p:spPr>
          <a:xfrm>
            <a:off x="4663440" y="2404480"/>
            <a:ext cx="3108960" cy="2000000"/>
          </a:xfrm>
          <a:prstGeom prst="rect">
            <a:avLst/>
          </a:prstGeom>
          <a:noFill/>
        </p:spPr>
        <p:txBody>
          <a:bodyPr wrap="square" lIns="0" rIns="0" tIns="0" bIns="0" anchor="t">
            <a:spAutoFit/>
          </a:bodyPr>
          <a:lstStyle/>
          <a:p>
            <a:r>
              <a:rPr sz="1600" b="1">
                <a:solidFill>
                  <a:schemeClr val="bg1"/>
                </a:solidFill>
              </a:rPr>
              <a:t>Zero processing cost</a:t>
            </a:r>
          </a:p>
          <a:p>
            <a:pPr>
              <a:spcBef>
                <a:spcPts val="1400"/>
              </a:spcBef>
            </a:pPr>
            <a:r>
              <a:rPr sz="1600" b="0">
                <a:solidFill>
                  <a:schemeClr val="bg1"/>
                </a:solidFill>
              </a:rPr>
              <a:t>The car direct from us, as it is, without dealer add-ons</a:t>
            </a:r>
          </a:p>
          <a:p>
            <a:pPr>
              <a:spcBef>
                <a:spcPts val="1400"/>
              </a:spcBef>
            </a:pPr>
            <a:r>
              <a:rPr sz="1600" b="0">
                <a:solidFill>
                  <a:schemeClr val="bg1"/>
                </a:solidFill>
              </a:rPr>
              <a:t>Pay only a small booking amount, online</a:t>
            </a:r>
          </a:p>
        </p:txBody>
      </p:sp>
      <p:sp>
        <p:nvSpPr>
          <p:cNvPr id="9" name="Rounded Rectangle 8"/>
          <p:cNvSpPr/>
          <p:nvPr/>
        </p:nvSpPr>
        <p:spPr>
          <a:xfrm>
            <a:off x="8229600" y="1554480"/>
            <a:ext cx="3383280" cy="301752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1874520"/>
            <a:ext cx="2834640" cy="300000"/>
          </a:xfrm>
          <a:prstGeom prst="rect">
            <a:avLst/>
          </a:prstGeom>
          <a:noFill/>
        </p:spPr>
        <p:txBody>
          <a:bodyPr wrap="square" lIns="0" rIns="0" tIns="0" bIns="0" anchor="t">
            <a:spAutoFit/>
          </a:bodyPr>
          <a:lstStyle/>
          <a:p>
            <a:r>
              <a:rPr sz="1300" b="1">
                <a:solidFill>
                  <a:schemeClr val="tx1"/>
                </a:solidFill>
              </a:rPr>
              <a:t>TO BOOK YOUR CAR</a:t>
            </a:r>
          </a:p>
        </p:txBody>
      </p:sp>
      <p:sp>
        <p:nvSpPr>
          <p:cNvPr id="11" name="TextBox 10"/>
          <p:cNvSpPr txBox="1"/>
          <p:nvPr/>
        </p:nvSpPr>
        <p:spPr>
          <a:xfrm>
            <a:off x="8503920" y="2331720"/>
            <a:ext cx="2834640" cy="900000"/>
          </a:xfrm>
          <a:prstGeom prst="rect">
            <a:avLst/>
          </a:prstGeom>
          <a:noFill/>
        </p:spPr>
        <p:txBody>
          <a:bodyPr wrap="square" lIns="0" rIns="0" tIns="0" bIns="0" anchor="t">
            <a:spAutoFit/>
          </a:bodyPr>
          <a:lstStyle/>
          <a:p>
            <a:r>
              <a:rPr sz="5400" b="1">
                <a:solidFill>
                  <a:schemeClr val="tx1"/>
                </a:solidFill>
              </a:rPr>
              <a:t>₹10,000</a:t>
            </a:r>
          </a:p>
        </p:txBody>
      </p:sp>
      <p:sp>
        <p:nvSpPr>
          <p:cNvPr id="12" name="TextBox 11"/>
          <p:cNvSpPr txBox="1"/>
          <p:nvPr/>
        </p:nvSpPr>
        <p:spPr>
          <a:xfrm>
            <a:off x="8503920" y="3383280"/>
            <a:ext cx="2834640" cy="1000000"/>
          </a:xfrm>
          <a:prstGeom prst="rect">
            <a:avLst/>
          </a:prstGeom>
          <a:noFill/>
        </p:spPr>
        <p:txBody>
          <a:bodyPr wrap="square" lIns="0" rIns="0" tIns="0" bIns="0" anchor="t">
            <a:spAutoFit/>
          </a:bodyPr>
          <a:lstStyle/>
          <a:p>
            <a:r>
              <a:rPr sz="1700" b="1">
                <a:solidFill>
                  <a:schemeClr val="tx1"/>
                </a:solidFill>
              </a:rPr>
              <a:t>is all it takes. Processing cost: ₹0.</a:t>
            </a:r>
          </a:p>
        </p:txBody>
      </p:sp>
      <p:sp>
        <p:nvSpPr>
          <p:cNvPr id="18" name="so what"/>
          <p:cNvSpPr/>
          <p:nvPr/>
        </p:nvSpPr>
        <p:spPr>
          <a:xfrm>
            <a:off x="548640" y="4846320"/>
            <a:ext cx="11064240" cy="1005840"/>
          </a:xfrm>
          <a:prstGeom prst="roundRect">
            <a:avLst>
              <a:gd name="adj" fmla="val 12727"/>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19" name="Text 14"/>
          <p:cNvSpPr txBox="1"/>
          <p:nvPr/>
        </p:nvSpPr>
        <p:spPr>
          <a:xfrm>
            <a:off x="868680" y="4846320"/>
            <a:ext cx="10424160" cy="1005840"/>
          </a:xfrm>
          <a:prstGeom prst="rect">
            <a:avLst/>
          </a:prstGeom>
          <a:noFill/>
          <a:ln/>
        </p:spPr>
        <p:txBody>
          <a:bodyPr wrap="square" lIns="0" tIns="0" rIns="0" bIns="0" rtlCol="0" anchor="ctr"/>
          <a:lstStyle/>
          <a:p>
            <a:pPr indent="0" marL="0">
              <a:buNone/>
            </a:pPr>
            <a:r>
              <a:rPr lang="en-US" sz="2200" b="1" dirty="0">
                <a:solidFill>
                  <a:schemeClr val="bg1"/>
                </a:solidFill>
              </a:rPr>
              <a:t>Buy directly from us, at the lowest cost. No dealer processing fee, just ₹10,000 to book.</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Secure payments, powered by Razorpay</a:t>
            </a:r>
            <a:endParaRPr lang="en-US" sz="3400" dirty="0"/>
          </a:p>
        </p:txBody>
      </p:sp>
      <p:sp>
        <p:nvSpPr>
          <p:cNvPr id="3" name="razorpay point icon 1 bg"/>
          <p:cNvSpPr/>
          <p:nvPr/>
        </p:nvSpPr>
        <p:spPr>
          <a:xfrm>
            <a:off x="548640" y="1508760"/>
            <a:ext cx="640080" cy="640080"/>
          </a:xfrm>
          <a:prstGeom prst="ellipse">
            <a:avLst/>
          </a:prstGeom>
          <a:solidFill>
            <a:srgbClr val="1B8A6B"/>
          </a:solidFill>
          <a:ln w="12700">
            <a:solidFill>
              <a:srgbClr val="1B8A6B"/>
            </a:solidFill>
            <a:prstDash val="solid"/>
          </a:ln>
        </p:spPr>
      </p:sp>
      <p:pic>
        <p:nvPicPr>
          <p:cNvPr id="4" name="razorpay point icon 1" descr="FiLock">    </p:cNvPr>
          <p:cNvPicPr>
            <a:picLocks noChangeAspect="1"/>
          </p:cNvPicPr>
          <p:nvPr/>
        </p:nvPicPr>
        <p:blipFill>
          <a:blip r:embed="rId1"/>
          <a:stretch>
            <a:fillRect/>
          </a:stretch>
        </p:blipFill>
        <p:spPr>
          <a:xfrm>
            <a:off x="715061" y="1675181"/>
            <a:ext cx="307238" cy="307238"/>
          </a:xfrm>
          <a:prstGeom prst="rect">
            <a:avLst/>
          </a:prstGeom>
        </p:spPr>
      </p:pic>
      <p:sp>
        <p:nvSpPr>
          <p:cNvPr id="5" name="Text 2"/>
          <p:cNvSpPr txBox="1"/>
          <p:nvPr/>
        </p:nvSpPr>
        <p:spPr>
          <a:xfrm>
            <a:off x="1417320" y="1463040"/>
            <a:ext cx="3566160" cy="685800"/>
          </a:xfrm>
          <a:prstGeom prst="rect">
            <a:avLst/>
          </a:prstGeom>
          <a:noFill/>
          <a:ln/>
        </p:spPr>
        <p:txBody>
          <a:bodyPr wrap="square" lIns="0" tIns="0" rIns="0" bIns="0" rtlCol="0" anchor="ctr"/>
          <a:lstStyle/>
          <a:p>
            <a:pPr indent="0" marL="0">
              <a:buNone/>
            </a:pPr>
            <a:r>
              <a:rPr lang="en-US" sz="1900" b="1" dirty="0">
                <a:solidFill>
                  <a:schemeClr val="tx1"/>
                </a:solidFill>
              </a:rPr>
              <a:t>Card details stay with Razorpay</a:t>
            </a:r>
            <a:endParaRPr lang="en-US" sz="1900" dirty="0"/>
          </a:p>
        </p:txBody>
      </p:sp>
      <p:sp>
        <p:nvSpPr>
          <p:cNvPr id="6" name="Text 3"/>
          <p:cNvSpPr txBox="1"/>
          <p:nvPr/>
        </p:nvSpPr>
        <p:spPr>
          <a:xfrm>
            <a:off x="1417320" y="2167128"/>
            <a:ext cx="3566160" cy="822960"/>
          </a:xfrm>
          <a:prstGeom prst="rect">
            <a:avLst/>
          </a:prstGeom>
          <a:noFill/>
          <a:ln/>
        </p:spPr>
        <p:txBody>
          <a:bodyPr wrap="square" lIns="0" tIns="0" rIns="0" bIns="0" rtlCol="0" anchor="t"/>
          <a:lstStyle/>
          <a:p>
            <a:pPr indent="0" marL="0">
              <a:buNone/>
            </a:pPr>
            <a:r>
              <a:rPr lang="en-US" sz="1400" dirty="0">
                <a:solidFill>
                  <a:schemeClr val="tx2"/>
                </a:solidFill>
              </a:rPr>
              <a:t>Customers enter payment details in Razorpay's own secure window. VirtualDrive never sees or stores card numbers.</a:t>
            </a:r>
            <a:endParaRPr lang="en-US" sz="1400" dirty="0"/>
          </a:p>
        </p:txBody>
      </p:sp>
      <p:sp>
        <p:nvSpPr>
          <p:cNvPr id="7" name="razorpay point icon 2 bg"/>
          <p:cNvSpPr/>
          <p:nvPr/>
        </p:nvSpPr>
        <p:spPr>
          <a:xfrm>
            <a:off x="548640" y="3063240"/>
            <a:ext cx="640080" cy="640080"/>
          </a:xfrm>
          <a:prstGeom prst="ellipse">
            <a:avLst/>
          </a:prstGeom>
          <a:solidFill>
            <a:srgbClr val="FFC629"/>
          </a:solidFill>
          <a:ln w="12700">
            <a:solidFill>
              <a:srgbClr val="FFC629"/>
            </a:solidFill>
            <a:prstDash val="solid"/>
          </a:ln>
        </p:spPr>
      </p:sp>
      <p:pic>
        <p:nvPicPr>
          <p:cNvPr id="8" name="razorpay point icon 2" descr="FiShield">    </p:cNvPr>
          <p:cNvPicPr>
            <a:picLocks noChangeAspect="1"/>
          </p:cNvPicPr>
          <p:nvPr/>
        </p:nvPicPr>
        <p:blipFill>
          <a:blip r:embed="rId2"/>
          <a:stretch>
            <a:fillRect/>
          </a:stretch>
        </p:blipFill>
        <p:spPr>
          <a:xfrm>
            <a:off x="715061" y="3229661"/>
            <a:ext cx="307238" cy="307238"/>
          </a:xfrm>
          <a:prstGeom prst="rect">
            <a:avLst/>
          </a:prstGeom>
        </p:spPr>
      </p:pic>
      <p:sp>
        <p:nvSpPr>
          <p:cNvPr id="9" name="Text 5"/>
          <p:cNvSpPr txBox="1"/>
          <p:nvPr/>
        </p:nvSpPr>
        <p:spPr>
          <a:xfrm>
            <a:off x="1417320" y="3017520"/>
            <a:ext cx="3566160" cy="685800"/>
          </a:xfrm>
          <a:prstGeom prst="rect">
            <a:avLst/>
          </a:prstGeom>
          <a:noFill/>
          <a:ln/>
        </p:spPr>
        <p:txBody>
          <a:bodyPr wrap="square" lIns="0" tIns="0" rIns="0" bIns="0" rtlCol="0" anchor="ctr"/>
          <a:lstStyle/>
          <a:p>
            <a:pPr indent="0" marL="0">
              <a:buNone/>
            </a:pPr>
            <a:r>
              <a:rPr lang="en-US" sz="1900" b="1" dirty="0">
                <a:solidFill>
                  <a:schemeClr val="tx1"/>
                </a:solidFill>
              </a:rPr>
              <a:t>Verified before it counts</a:t>
            </a:r>
            <a:endParaRPr lang="en-US" sz="1900" dirty="0"/>
          </a:p>
        </p:txBody>
      </p:sp>
      <p:sp>
        <p:nvSpPr>
          <p:cNvPr id="10" name="Text 6"/>
          <p:cNvSpPr txBox="1"/>
          <p:nvPr/>
        </p:nvSpPr>
        <p:spPr>
          <a:xfrm>
            <a:off x="1417320" y="3721608"/>
            <a:ext cx="3566160" cy="822960"/>
          </a:xfrm>
          <a:prstGeom prst="rect">
            <a:avLst/>
          </a:prstGeom>
          <a:noFill/>
          <a:ln/>
        </p:spPr>
        <p:txBody>
          <a:bodyPr wrap="square" lIns="0" tIns="0" rIns="0" bIns="0" rtlCol="0" anchor="t"/>
          <a:lstStyle/>
          <a:p>
            <a:pPr indent="0" marL="0">
              <a:buNone/>
            </a:pPr>
            <a:r>
              <a:rPr lang="en-US" sz="1400" dirty="0">
                <a:solidFill>
                  <a:schemeClr val="tx2"/>
                </a:solidFill>
              </a:rPr>
              <a:t>We check Razorpay's confirmation of the payment before a booking is saved.</a:t>
            </a:r>
            <a:endParaRPr lang="en-US" sz="1400" dirty="0"/>
          </a:p>
        </p:txBody>
      </p:sp>
      <p:sp>
        <p:nvSpPr>
          <p:cNvPr id="11" name="razorpay point icon 3 bg"/>
          <p:cNvSpPr/>
          <p:nvPr/>
        </p:nvSpPr>
        <p:spPr>
          <a:xfrm>
            <a:off x="548640" y="4617720"/>
            <a:ext cx="640080" cy="640080"/>
          </a:xfrm>
          <a:prstGeom prst="ellipse">
            <a:avLst/>
          </a:prstGeom>
          <a:solidFill>
            <a:srgbClr val="1B8A6B"/>
          </a:solidFill>
          <a:ln w="12700">
            <a:solidFill>
              <a:srgbClr val="1B8A6B"/>
            </a:solidFill>
            <a:prstDash val="solid"/>
          </a:ln>
        </p:spPr>
      </p:sp>
      <p:pic>
        <p:nvPicPr>
          <p:cNvPr id="12" name="razorpay point icon 3" descr="FiCreditCard">    </p:cNvPr>
          <p:cNvPicPr>
            <a:picLocks noChangeAspect="1"/>
          </p:cNvPicPr>
          <p:nvPr/>
        </p:nvPicPr>
        <p:blipFill>
          <a:blip r:embed="rId3"/>
          <a:stretch>
            <a:fillRect/>
          </a:stretch>
        </p:blipFill>
        <p:spPr>
          <a:xfrm>
            <a:off x="715061" y="4784141"/>
            <a:ext cx="307238" cy="307238"/>
          </a:xfrm>
          <a:prstGeom prst="rect">
            <a:avLst/>
          </a:prstGeom>
        </p:spPr>
      </p:pic>
      <p:sp>
        <p:nvSpPr>
          <p:cNvPr id="13" name="Text 8"/>
          <p:cNvSpPr txBox="1"/>
          <p:nvPr/>
        </p:nvSpPr>
        <p:spPr>
          <a:xfrm>
            <a:off x="1417320" y="4572000"/>
            <a:ext cx="3566160" cy="685800"/>
          </a:xfrm>
          <a:prstGeom prst="rect">
            <a:avLst/>
          </a:prstGeom>
          <a:noFill/>
          <a:ln/>
        </p:spPr>
        <p:txBody>
          <a:bodyPr wrap="square" lIns="0" tIns="0" rIns="0" bIns="0" rtlCol="0" anchor="ctr"/>
          <a:lstStyle/>
          <a:p>
            <a:pPr indent="0" marL="0">
              <a:buNone/>
            </a:pPr>
            <a:r>
              <a:rPr lang="en-US" sz="1900" b="1" dirty="0">
                <a:solidFill>
                  <a:schemeClr val="tx1"/>
                </a:solidFill>
              </a:rPr>
              <a:t>Familiar ways to pay</a:t>
            </a:r>
            <a:endParaRPr lang="en-US" sz="1900" dirty="0"/>
          </a:p>
        </p:txBody>
      </p:sp>
      <p:sp>
        <p:nvSpPr>
          <p:cNvPr id="14" name="Text 9"/>
          <p:cNvSpPr txBox="1"/>
          <p:nvPr/>
        </p:nvSpPr>
        <p:spPr>
          <a:xfrm>
            <a:off x="1417320" y="5276088"/>
            <a:ext cx="3566160" cy="822960"/>
          </a:xfrm>
          <a:prstGeom prst="rect">
            <a:avLst/>
          </a:prstGeom>
          <a:noFill/>
          <a:ln/>
        </p:spPr>
        <p:txBody>
          <a:bodyPr wrap="square" lIns="0" tIns="0" rIns="0" bIns="0" rtlCol="0" anchor="t"/>
          <a:lstStyle/>
          <a:p>
            <a:pPr indent="0" marL="0">
              <a:buNone/>
            </a:pPr>
            <a:r>
              <a:rPr lang="en-US" sz="1400" dirty="0">
                <a:solidFill>
                  <a:schemeClr val="tx2"/>
                </a:solidFill>
              </a:rPr>
              <a:t>Cards, net banking and wallets, in a screen customers already know.</a:t>
            </a:r>
            <a:endParaRPr lang="en-US" sz="1400" dirty="0"/>
          </a:p>
        </p:txBody>
      </p:sp>
      <p:sp>
        <p:nvSpPr>
          <p:cNvPr id="15" name="razorpay checkout frame"/>
          <p:cNvSpPr/>
          <p:nvPr/>
        </p:nvSpPr>
        <p:spPr>
          <a:xfrm>
            <a:off x="5257800" y="1508760"/>
            <a:ext cx="6400800" cy="3865337"/>
          </a:xfrm>
          <a:prstGeom prst="roundRect">
            <a:avLst>
              <a:gd name="adj" fmla="val 2839"/>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6" name="razorpay checkout" descr="Razorpay checkout window for VirtualDrive showing a payment of 1,000 rupees with card, net banking and wallet options and a Test Mode ribbon">    </p:cNvPr>
          <p:cNvPicPr>
            <a:picLocks noChangeAspect="1"/>
          </p:cNvPicPr>
          <p:nvPr/>
        </p:nvPicPr>
        <p:blipFill>
          <a:blip r:embed="rId4"/>
          <a:stretch>
            <a:fillRect/>
          </a:stretch>
        </p:blipFill>
        <p:spPr>
          <a:xfrm>
            <a:off x="5349240" y="1600200"/>
            <a:ext cx="6217920" cy="3682457"/>
          </a:xfrm>
          <a:prstGeom prst="rect">
            <a:avLst/>
          </a:prstGeom>
        </p:spPr>
      </p:pic>
      <p:sp>
        <p:nvSpPr>
          <p:cNvPr id="17" name="test mode pill"/>
          <p:cNvSpPr/>
          <p:nvPr/>
        </p:nvSpPr>
        <p:spPr>
          <a:xfrm>
            <a:off x="5349240" y="5602697"/>
            <a:ext cx="6217920" cy="502920"/>
          </a:xfrm>
          <a:prstGeom prst="roundRect">
            <a:avLst>
              <a:gd name="adj" fmla="val 49091"/>
            </a:avLst>
          </a:prstGeom>
          <a:solidFill>
            <a:schemeClr val="accent1"/>
          </a:solidFill>
          <a:ln w="12700">
            <a:solidFill>
              <a:schemeClr val="accent1"/>
            </a:solidFill>
            <a:prstDash val="solid"/>
          </a:ln>
        </p:spPr>
      </p:sp>
      <p:sp>
        <p:nvSpPr>
          <p:cNvPr id="18" name="Text 12"/>
          <p:cNvSpPr txBox="1"/>
          <p:nvPr/>
        </p:nvSpPr>
        <p:spPr>
          <a:xfrm>
            <a:off x="5349240" y="5602697"/>
            <a:ext cx="6217920" cy="502920"/>
          </a:xfrm>
          <a:prstGeom prst="rect">
            <a:avLst/>
          </a:prstGeom>
          <a:noFill/>
          <a:ln/>
        </p:spPr>
        <p:txBody>
          <a:bodyPr wrap="square" lIns="0" tIns="0" rIns="0" bIns="0" rtlCol="0" anchor="ctr"/>
          <a:lstStyle/>
          <a:p>
            <a:pPr algn="ctr" indent="0" marL="0">
              <a:buNone/>
            </a:pPr>
            <a:r>
              <a:rPr lang="en-US" sz="1400" b="1" dirty="0">
                <a:solidFill>
                  <a:schemeClr val="tx1"/>
                </a:solidFill>
              </a:rPr>
              <a:t>Razorpay's checkout in test mode: no real money moves in the demo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the information flows, in plain words</a:t>
            </a:r>
            <a:endParaRPr lang="en-US" sz="3400" dirty="0"/>
          </a:p>
        </p:txBody>
      </p:sp>
      <p:sp>
        <p:nvSpPr>
          <p:cNvPr id="3" name="flow node 1"/>
          <p:cNvSpPr/>
          <p:nvPr/>
        </p:nvSpPr>
        <p:spPr>
          <a:xfrm>
            <a:off x="548640" y="1554480"/>
            <a:ext cx="3200400" cy="2514600"/>
          </a:xfrm>
          <a:prstGeom prst="roundRect">
            <a:avLst>
              <a:gd name="adj" fmla="val 5091"/>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flow icon 1 bg"/>
          <p:cNvSpPr/>
          <p:nvPr/>
        </p:nvSpPr>
        <p:spPr>
          <a:xfrm>
            <a:off x="822960" y="1783080"/>
            <a:ext cx="685800" cy="685800"/>
          </a:xfrm>
          <a:prstGeom prst="ellipse">
            <a:avLst/>
          </a:prstGeom>
          <a:solidFill>
            <a:srgbClr val="1B8A6B"/>
          </a:solidFill>
          <a:ln w="12700">
            <a:solidFill>
              <a:srgbClr val="1B8A6B"/>
            </a:solidFill>
            <a:prstDash val="solid"/>
          </a:ln>
        </p:spPr>
      </p:sp>
      <p:pic>
        <p:nvPicPr>
          <p:cNvPr id="5" name="flow icon 1" descr="FiUser">    </p:cNvPr>
          <p:cNvPicPr>
            <a:picLocks noChangeAspect="1"/>
          </p:cNvPicPr>
          <p:nvPr/>
        </p:nvPicPr>
        <p:blipFill>
          <a:blip r:embed="rId1"/>
          <a:stretch>
            <a:fillRect/>
          </a:stretch>
        </p:blipFill>
        <p:spPr>
          <a:xfrm>
            <a:off x="1001268" y="1961388"/>
            <a:ext cx="329184" cy="329184"/>
          </a:xfrm>
          <a:prstGeom prst="rect">
            <a:avLst/>
          </a:prstGeom>
        </p:spPr>
      </p:pic>
      <p:sp>
        <p:nvSpPr>
          <p:cNvPr id="6" name="Text 3"/>
          <p:cNvSpPr txBox="1"/>
          <p:nvPr/>
        </p:nvSpPr>
        <p:spPr>
          <a:xfrm>
            <a:off x="822960" y="2651760"/>
            <a:ext cx="2697480" cy="411480"/>
          </a:xfrm>
          <a:prstGeom prst="rect">
            <a:avLst/>
          </a:prstGeom>
          <a:noFill/>
          <a:ln/>
        </p:spPr>
        <p:txBody>
          <a:bodyPr wrap="square" lIns="0" tIns="0" rIns="0" bIns="0" rtlCol="0" anchor="t"/>
          <a:lstStyle/>
          <a:p>
            <a:pPr indent="0" marL="0">
              <a:buNone/>
            </a:pPr>
            <a:r>
              <a:rPr lang="en-US" sz="2100" b="1" dirty="0">
                <a:solidFill>
                  <a:schemeClr val="tx1"/>
                </a:solidFill>
              </a:rPr>
              <a:t>Your team</a:t>
            </a:r>
            <a:endParaRPr lang="en-US" sz="2100" dirty="0"/>
          </a:p>
        </p:txBody>
      </p:sp>
      <p:sp>
        <p:nvSpPr>
          <p:cNvPr id="7" name="Text 4"/>
          <p:cNvSpPr txBox="1"/>
          <p:nvPr/>
        </p:nvSpPr>
        <p:spPr>
          <a:xfrm>
            <a:off x="822960" y="3108960"/>
            <a:ext cx="2697480" cy="868680"/>
          </a:xfrm>
          <a:prstGeom prst="rect">
            <a:avLst/>
          </a:prstGeom>
          <a:noFill/>
          <a:ln/>
        </p:spPr>
        <p:txBody>
          <a:bodyPr wrap="square" lIns="0" tIns="0" rIns="0" bIns="0" rtlCol="0" anchor="t"/>
          <a:lstStyle/>
          <a:p>
            <a:pPr indent="0" marL="0">
              <a:buNone/>
            </a:pPr>
            <a:r>
              <a:rPr lang="en-US" sz="1500" dirty="0">
                <a:solidFill>
                  <a:schemeClr val="tx2"/>
                </a:solidFill>
              </a:rPr>
              <a:t>adds cars, prices, photos and brochures in the admin panel</a:t>
            </a:r>
            <a:endParaRPr lang="en-US" sz="1500" dirty="0"/>
          </a:p>
        </p:txBody>
      </p:sp>
      <p:sp>
        <p:nvSpPr>
          <p:cNvPr id="8" name="flow node 2"/>
          <p:cNvSpPr/>
          <p:nvPr/>
        </p:nvSpPr>
        <p:spPr>
          <a:xfrm>
            <a:off x="4480560" y="1554480"/>
            <a:ext cx="3200400" cy="2514600"/>
          </a:xfrm>
          <a:prstGeom prst="roundRect">
            <a:avLst>
              <a:gd name="adj" fmla="val 5091"/>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9" name="flow icon 2 bg"/>
          <p:cNvSpPr/>
          <p:nvPr/>
        </p:nvSpPr>
        <p:spPr>
          <a:xfrm>
            <a:off x="4754880" y="1783080"/>
            <a:ext cx="685800" cy="685800"/>
          </a:xfrm>
          <a:prstGeom prst="ellipse">
            <a:avLst/>
          </a:prstGeom>
          <a:solidFill>
            <a:srgbClr val="FFC629"/>
          </a:solidFill>
          <a:ln w="12700">
            <a:solidFill>
              <a:srgbClr val="FFC629"/>
            </a:solidFill>
            <a:prstDash val="solid"/>
          </a:ln>
        </p:spPr>
      </p:sp>
      <p:pic>
        <p:nvPicPr>
          <p:cNvPr id="10" name="flow icon 2" descr="FiDatabase">    </p:cNvPr>
          <p:cNvPicPr>
            <a:picLocks noChangeAspect="1"/>
          </p:cNvPicPr>
          <p:nvPr/>
        </p:nvPicPr>
        <p:blipFill>
          <a:blip r:embed="rId2"/>
          <a:stretch>
            <a:fillRect/>
          </a:stretch>
        </p:blipFill>
        <p:spPr>
          <a:xfrm>
            <a:off x="4933188" y="1961388"/>
            <a:ext cx="329184" cy="329184"/>
          </a:xfrm>
          <a:prstGeom prst="rect">
            <a:avLst/>
          </a:prstGeom>
        </p:spPr>
      </p:pic>
      <p:sp>
        <p:nvSpPr>
          <p:cNvPr id="11" name="Text 7"/>
          <p:cNvSpPr txBox="1"/>
          <p:nvPr/>
        </p:nvSpPr>
        <p:spPr>
          <a:xfrm>
            <a:off x="4754880" y="2651760"/>
            <a:ext cx="2697480" cy="411480"/>
          </a:xfrm>
          <a:prstGeom prst="rect">
            <a:avLst/>
          </a:prstGeom>
          <a:noFill/>
          <a:ln/>
        </p:spPr>
        <p:txBody>
          <a:bodyPr wrap="square" lIns="0" tIns="0" rIns="0" bIns="0" rtlCol="0" anchor="t"/>
          <a:lstStyle/>
          <a:p>
            <a:pPr indent="0" marL="0">
              <a:buNone/>
            </a:pPr>
            <a:r>
              <a:rPr lang="en-US" sz="2100" b="1" dirty="0">
                <a:solidFill>
                  <a:schemeClr val="bg1"/>
                </a:solidFill>
              </a:rPr>
              <a:t>Secure database</a:t>
            </a:r>
            <a:endParaRPr lang="en-US" sz="2100" dirty="0"/>
          </a:p>
        </p:txBody>
      </p:sp>
      <p:sp>
        <p:nvSpPr>
          <p:cNvPr id="12" name="Text 8"/>
          <p:cNvSpPr txBox="1"/>
          <p:nvPr/>
        </p:nvSpPr>
        <p:spPr>
          <a:xfrm>
            <a:off x="4754880" y="3108960"/>
            <a:ext cx="2697480" cy="868680"/>
          </a:xfrm>
          <a:prstGeom prst="rect">
            <a:avLst/>
          </a:prstGeom>
          <a:noFill/>
          <a:ln/>
        </p:spPr>
        <p:txBody>
          <a:bodyPr wrap="square" lIns="0" tIns="0" rIns="0" bIns="0" rtlCol="0" anchor="t"/>
          <a:lstStyle/>
          <a:p>
            <a:pPr indent="0" marL="0">
              <a:buNone/>
            </a:pPr>
            <a:r>
              <a:rPr lang="en-US" sz="1500" dirty="0">
                <a:solidFill>
                  <a:srgbClr val="D7E6E0"/>
                </a:solidFill>
              </a:rPr>
              <a:t>(MongoDB) keeps everything safely in one place</a:t>
            </a:r>
            <a:endParaRPr lang="en-US" sz="1500" dirty="0"/>
          </a:p>
        </p:txBody>
      </p:sp>
      <p:sp>
        <p:nvSpPr>
          <p:cNvPr id="13" name="flow node 3"/>
          <p:cNvSpPr/>
          <p:nvPr/>
        </p:nvSpPr>
        <p:spPr>
          <a:xfrm>
            <a:off x="8412480" y="1554480"/>
            <a:ext cx="3200400" cy="2514600"/>
          </a:xfrm>
          <a:prstGeom prst="roundRect">
            <a:avLst>
              <a:gd name="adj" fmla="val 5091"/>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flow icon 3 bg"/>
          <p:cNvSpPr/>
          <p:nvPr/>
        </p:nvSpPr>
        <p:spPr>
          <a:xfrm>
            <a:off x="8686800" y="1783080"/>
            <a:ext cx="685800" cy="685800"/>
          </a:xfrm>
          <a:prstGeom prst="ellipse">
            <a:avLst/>
          </a:prstGeom>
          <a:solidFill>
            <a:srgbClr val="1B8A6B"/>
          </a:solidFill>
          <a:ln w="12700">
            <a:solidFill>
              <a:srgbClr val="1B8A6B"/>
            </a:solidFill>
            <a:prstDash val="solid"/>
          </a:ln>
        </p:spPr>
      </p:sp>
      <p:pic>
        <p:nvPicPr>
          <p:cNvPr id="15" name="flow icon 3" descr="FiMonitor">    </p:cNvPr>
          <p:cNvPicPr>
            <a:picLocks noChangeAspect="1"/>
          </p:cNvPicPr>
          <p:nvPr/>
        </p:nvPicPr>
        <p:blipFill>
          <a:blip r:embed="rId3"/>
          <a:stretch>
            <a:fillRect/>
          </a:stretch>
        </p:blipFill>
        <p:spPr>
          <a:xfrm>
            <a:off x="8865108" y="1961388"/>
            <a:ext cx="329184" cy="329184"/>
          </a:xfrm>
          <a:prstGeom prst="rect">
            <a:avLst/>
          </a:prstGeom>
        </p:spPr>
      </p:pic>
      <p:sp>
        <p:nvSpPr>
          <p:cNvPr id="16" name="Text 11"/>
          <p:cNvSpPr txBox="1"/>
          <p:nvPr/>
        </p:nvSpPr>
        <p:spPr>
          <a:xfrm>
            <a:off x="8686800" y="2651760"/>
            <a:ext cx="2697480" cy="411480"/>
          </a:xfrm>
          <a:prstGeom prst="rect">
            <a:avLst/>
          </a:prstGeom>
          <a:noFill/>
          <a:ln/>
        </p:spPr>
        <p:txBody>
          <a:bodyPr wrap="square" lIns="0" tIns="0" rIns="0" bIns="0" rtlCol="0" anchor="t"/>
          <a:lstStyle/>
          <a:p>
            <a:pPr indent="0" marL="0">
              <a:buNone/>
            </a:pPr>
            <a:r>
              <a:rPr lang="en-US" sz="2100" b="1" dirty="0">
                <a:solidFill>
                  <a:schemeClr val="tx1"/>
                </a:solidFill>
              </a:rPr>
              <a:t>Website customers see</a:t>
            </a:r>
            <a:endParaRPr lang="en-US" sz="2100" dirty="0"/>
          </a:p>
        </p:txBody>
      </p:sp>
      <p:sp>
        <p:nvSpPr>
          <p:cNvPr id="17" name="Text 12"/>
          <p:cNvSpPr txBox="1"/>
          <p:nvPr/>
        </p:nvSpPr>
        <p:spPr>
          <a:xfrm>
            <a:off x="8686800" y="3108960"/>
            <a:ext cx="2697480" cy="868680"/>
          </a:xfrm>
          <a:prstGeom prst="rect">
            <a:avLst/>
          </a:prstGeom>
          <a:noFill/>
          <a:ln/>
        </p:spPr>
        <p:txBody>
          <a:bodyPr wrap="square" lIns="0" tIns="0" rIns="0" bIns="0" rtlCol="0" anchor="t"/>
          <a:lstStyle/>
          <a:p>
            <a:pPr indent="0" marL="0">
              <a:buNone/>
            </a:pPr>
            <a:r>
              <a:rPr lang="en-US" sz="1500" dirty="0">
                <a:solidFill>
                  <a:schemeClr val="tx2"/>
                </a:solidFill>
              </a:rPr>
              <a:t>shows the latest information to every visitor</a:t>
            </a:r>
            <a:endParaRPr lang="en-US" sz="1500" dirty="0"/>
          </a:p>
        </p:txBody>
      </p:sp>
      <p:sp>
        <p:nvSpPr>
          <p:cNvPr id="18" name="flow arrow 1"/>
          <p:cNvSpPr/>
          <p:nvPr/>
        </p:nvSpPr>
        <p:spPr>
          <a:xfrm>
            <a:off x="3794760" y="2560320"/>
            <a:ext cx="640080" cy="457200"/>
          </a:xfrm>
          <a:prstGeom prst="rightArrow">
            <a:avLst/>
          </a:prstGeom>
          <a:solidFill>
            <a:schemeClr val="accent1"/>
          </a:solidFill>
          <a:ln w="12700">
            <a:solidFill>
              <a:schemeClr val="accent1"/>
            </a:solidFill>
            <a:prstDash val="solid"/>
          </a:ln>
        </p:spPr>
      </p:sp>
      <p:sp>
        <p:nvSpPr>
          <p:cNvPr id="19" name="flow arrow 2"/>
          <p:cNvSpPr/>
          <p:nvPr/>
        </p:nvSpPr>
        <p:spPr>
          <a:xfrm>
            <a:off x="7726680" y="2560320"/>
            <a:ext cx="640080" cy="457200"/>
          </a:xfrm>
          <a:prstGeom prst="rightArrow">
            <a:avLst/>
          </a:prstGeom>
          <a:solidFill>
            <a:schemeClr val="accent1"/>
          </a:solidFill>
          <a:ln w="12700">
            <a:solidFill>
              <a:schemeClr val="accent1"/>
            </a:solidFill>
            <a:prstDash val="solid"/>
          </a:ln>
        </p:spPr>
      </p:sp>
      <p:sp>
        <p:nvSpPr>
          <p:cNvPr id="20" name="Text 15"/>
          <p:cNvSpPr txBox="1"/>
          <p:nvPr/>
        </p:nvSpPr>
        <p:spPr>
          <a:xfrm>
            <a:off x="3611880" y="2103120"/>
            <a:ext cx="1005840" cy="365760"/>
          </a:xfrm>
          <a:prstGeom prst="rect">
            <a:avLst/>
          </a:prstGeom>
          <a:noFill/>
          <a:ln/>
        </p:spPr>
        <p:txBody>
          <a:bodyPr wrap="square" lIns="0" tIns="0" rIns="0" bIns="0" rtlCol="0" anchor="t"/>
          <a:lstStyle/>
          <a:p>
            <a:pPr algn="ctr" indent="0" marL="0">
              <a:buNone/>
            </a:pPr>
            <a:r>
              <a:rPr lang="en-US" sz="1300" b="1" dirty="0">
                <a:solidFill>
                  <a:schemeClr val="accent2"/>
                </a:solidFill>
              </a:rPr>
              <a:t>1  Saved</a:t>
            </a:r>
            <a:endParaRPr lang="en-US" sz="1300" dirty="0"/>
          </a:p>
        </p:txBody>
      </p:sp>
      <p:sp>
        <p:nvSpPr>
          <p:cNvPr id="21" name="Text 16"/>
          <p:cNvSpPr txBox="1"/>
          <p:nvPr/>
        </p:nvSpPr>
        <p:spPr>
          <a:xfrm>
            <a:off x="7543800" y="2103120"/>
            <a:ext cx="1005840" cy="365760"/>
          </a:xfrm>
          <a:prstGeom prst="rect">
            <a:avLst/>
          </a:prstGeom>
          <a:noFill/>
          <a:ln/>
        </p:spPr>
        <p:txBody>
          <a:bodyPr wrap="square" lIns="0" tIns="0" rIns="0" bIns="0" rtlCol="0" anchor="t"/>
          <a:lstStyle/>
          <a:p>
            <a:pPr algn="ctr" indent="0" marL="0">
              <a:buNone/>
            </a:pPr>
            <a:r>
              <a:rPr lang="en-US" sz="1300" b="1" dirty="0">
                <a:solidFill>
                  <a:schemeClr val="accent2"/>
                </a:solidFill>
              </a:rPr>
              <a:t>2  Shown</a:t>
            </a:r>
            <a:endParaRPr lang="en-US" sz="1300" dirty="0"/>
          </a:p>
        </p:txBody>
      </p:sp>
      <p:sp>
        <p:nvSpPr>
          <p:cNvPr id="22" name="return path"/>
          <p:cNvSpPr/>
          <p:nvPr/>
        </p:nvSpPr>
        <p:spPr>
          <a:xfrm>
            <a:off x="548640" y="4434840"/>
            <a:ext cx="11064240" cy="1508760"/>
          </a:xfrm>
          <a:prstGeom prst="roundRect">
            <a:avLst>
              <a:gd name="adj" fmla="val 8485"/>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pic>
        <p:nvPicPr>
          <p:cNvPr id="23" name="return icon" descr="return arrow">    </p:cNvPr>
          <p:cNvPicPr>
            <a:picLocks noChangeAspect="1"/>
          </p:cNvPicPr>
          <p:nvPr/>
        </p:nvPicPr>
        <p:blipFill>
          <a:blip r:embed="rId4"/>
          <a:stretch>
            <a:fillRect/>
          </a:stretch>
        </p:blipFill>
        <p:spPr>
          <a:xfrm>
            <a:off x="868680" y="4937760"/>
            <a:ext cx="502920" cy="502920"/>
          </a:xfrm>
          <a:prstGeom prst="rect">
            <a:avLst/>
          </a:prstGeom>
        </p:spPr>
      </p:pic>
      <p:sp>
        <p:nvSpPr>
          <p:cNvPr id="24" name="Text 18"/>
          <p:cNvSpPr txBox="1"/>
          <p:nvPr/>
        </p:nvSpPr>
        <p:spPr>
          <a:xfrm>
            <a:off x="1645920" y="4434840"/>
            <a:ext cx="9601200" cy="1508760"/>
          </a:xfrm>
          <a:prstGeom prst="rect">
            <a:avLst/>
          </a:prstGeom>
          <a:noFill/>
          <a:ln/>
        </p:spPr>
        <p:txBody>
          <a:bodyPr wrap="square" lIns="0" tIns="0" rIns="0" bIns="0" rtlCol="0" anchor="ctr"/>
          <a:lstStyle/>
          <a:p>
            <a:pPr indent="0" marL="0">
              <a:buNone/>
            </a:pPr>
            <a:r>
              <a:rPr lang="en-US" sz="1900" b="1" dirty="0">
                <a:solidFill>
                  <a:schemeClr val="accent1"/>
                </a:solidFill>
              </a:rPr>
              <a:t>3  And back again. </a:t>
            </a:r>
            <a:pPr indent="0" marL="0">
              <a:buNone/>
            </a:pPr>
            <a:r>
              <a:rPr lang="en-US" sz="1900" dirty="0">
                <a:solidFill>
                  <a:schemeClr val="bg1"/>
                </a:solidFill>
              </a:rPr>
              <a:t>When a customer books a test drive or reserves a car, that booking is saved in the same secure database, tied to their account.</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your team puts cars online</a:t>
            </a:r>
            <a:endParaRPr lang="en-US" sz="3400" dirty="0"/>
          </a:p>
        </p:txBody>
      </p:sp>
      <p:sp>
        <p:nvSpPr>
          <p:cNvPr id="3" name="level Brand"/>
          <p:cNvSpPr/>
          <p:nvPr/>
        </p:nvSpPr>
        <p:spPr>
          <a:xfrm>
            <a:off x="548640" y="1508760"/>
            <a:ext cx="6400800" cy="896112"/>
          </a:xfrm>
          <a:prstGeom prst="roundRect">
            <a:avLst>
              <a:gd name="adj" fmla="val 14286"/>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4" name="Text 2"/>
          <p:cNvSpPr txBox="1"/>
          <p:nvPr/>
        </p:nvSpPr>
        <p:spPr>
          <a:xfrm>
            <a:off x="822960" y="1508760"/>
            <a:ext cx="1554480" cy="896112"/>
          </a:xfrm>
          <a:prstGeom prst="rect">
            <a:avLst/>
          </a:prstGeom>
          <a:noFill/>
          <a:ln/>
        </p:spPr>
        <p:txBody>
          <a:bodyPr wrap="square" lIns="0" tIns="0" rIns="0" bIns="0" rtlCol="0" anchor="ctr"/>
          <a:lstStyle/>
          <a:p>
            <a:pPr indent="0" marL="0">
              <a:buNone/>
            </a:pPr>
            <a:r>
              <a:rPr lang="en-US" sz="1900" b="1" dirty="0">
                <a:solidFill>
                  <a:schemeClr val="accent1"/>
                </a:solidFill>
              </a:rPr>
              <a:t>Brand</a:t>
            </a:r>
            <a:endParaRPr lang="en-US" sz="1900" dirty="0"/>
          </a:p>
        </p:txBody>
      </p:sp>
      <p:sp>
        <p:nvSpPr>
          <p:cNvPr id="5" name="Text 3"/>
          <p:cNvSpPr txBox="1"/>
          <p:nvPr/>
        </p:nvSpPr>
        <p:spPr>
          <a:xfrm>
            <a:off x="2423160" y="1508760"/>
            <a:ext cx="4297680" cy="896112"/>
          </a:xfrm>
          <a:prstGeom prst="rect">
            <a:avLst/>
          </a:prstGeom>
          <a:noFill/>
          <a:ln/>
        </p:spPr>
        <p:txBody>
          <a:bodyPr wrap="square" lIns="0" tIns="0" rIns="0" bIns="0" rtlCol="0" anchor="ctr"/>
          <a:lstStyle/>
          <a:p>
            <a:pPr indent="0" marL="0">
              <a:buNone/>
            </a:pPr>
            <a:r>
              <a:rPr lang="en-US" sz="1500" dirty="0">
                <a:solidFill>
                  <a:schemeClr val="bg1"/>
                </a:solidFill>
              </a:rPr>
              <a:t>The manufacturer: name, logo and history</a:t>
            </a:r>
            <a:endParaRPr lang="en-US" sz="1500" dirty="0"/>
          </a:p>
        </p:txBody>
      </p:sp>
      <p:sp>
        <p:nvSpPr>
          <p:cNvPr id="6" name="level Model"/>
          <p:cNvSpPr/>
          <p:nvPr/>
        </p:nvSpPr>
        <p:spPr>
          <a:xfrm>
            <a:off x="868680" y="2560320"/>
            <a:ext cx="6080760" cy="896112"/>
          </a:xfrm>
          <a:prstGeom prst="roundRect">
            <a:avLst>
              <a:gd name="adj" fmla="val 14286"/>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7" name="Text 5"/>
          <p:cNvSpPr txBox="1"/>
          <p:nvPr/>
        </p:nvSpPr>
        <p:spPr>
          <a:xfrm>
            <a:off x="1143000" y="2560320"/>
            <a:ext cx="1554480" cy="896112"/>
          </a:xfrm>
          <a:prstGeom prst="rect">
            <a:avLst/>
          </a:prstGeom>
          <a:noFill/>
          <a:ln/>
        </p:spPr>
        <p:txBody>
          <a:bodyPr wrap="square" lIns="0" tIns="0" rIns="0" bIns="0" rtlCol="0" anchor="ctr"/>
          <a:lstStyle/>
          <a:p>
            <a:pPr indent="0" marL="0">
              <a:buNone/>
            </a:pPr>
            <a:r>
              <a:rPr lang="en-US" sz="1900" b="1" dirty="0">
                <a:solidFill>
                  <a:schemeClr val="accent2"/>
                </a:solidFill>
              </a:rPr>
              <a:t>Model</a:t>
            </a:r>
            <a:endParaRPr lang="en-US" sz="1900" dirty="0"/>
          </a:p>
        </p:txBody>
      </p:sp>
      <p:sp>
        <p:nvSpPr>
          <p:cNvPr id="8" name="Text 6"/>
          <p:cNvSpPr txBox="1"/>
          <p:nvPr/>
        </p:nvSpPr>
        <p:spPr>
          <a:xfrm>
            <a:off x="2743200" y="2560320"/>
            <a:ext cx="3977640" cy="896112"/>
          </a:xfrm>
          <a:prstGeom prst="rect">
            <a:avLst/>
          </a:prstGeom>
          <a:noFill/>
          <a:ln/>
        </p:spPr>
        <p:txBody>
          <a:bodyPr wrap="square" lIns="0" tIns="0" rIns="0" bIns="0" rtlCol="0" anchor="ctr"/>
          <a:lstStyle/>
          <a:p>
            <a:pPr indent="0" marL="0">
              <a:buNone/>
            </a:pPr>
            <a:r>
              <a:rPr lang="en-US" sz="1500" dirty="0">
                <a:solidFill>
                  <a:schemeClr val="tx2"/>
                </a:solidFill>
              </a:rPr>
              <a:t>For example Brezza: photos, specs, highlights and brochure</a:t>
            </a:r>
            <a:endParaRPr lang="en-US" sz="1500" dirty="0"/>
          </a:p>
        </p:txBody>
      </p:sp>
      <p:sp>
        <p:nvSpPr>
          <p:cNvPr id="9" name="level Variant"/>
          <p:cNvSpPr/>
          <p:nvPr/>
        </p:nvSpPr>
        <p:spPr>
          <a:xfrm>
            <a:off x="1188720" y="3611880"/>
            <a:ext cx="5760720" cy="896112"/>
          </a:xfrm>
          <a:prstGeom prst="roundRect">
            <a:avLst>
              <a:gd name="adj" fmla="val 14286"/>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0" name="Text 8"/>
          <p:cNvSpPr txBox="1"/>
          <p:nvPr/>
        </p:nvSpPr>
        <p:spPr>
          <a:xfrm>
            <a:off x="1463040" y="3611880"/>
            <a:ext cx="1554480" cy="896112"/>
          </a:xfrm>
          <a:prstGeom prst="rect">
            <a:avLst/>
          </a:prstGeom>
          <a:noFill/>
          <a:ln/>
        </p:spPr>
        <p:txBody>
          <a:bodyPr wrap="square" lIns="0" tIns="0" rIns="0" bIns="0" rtlCol="0" anchor="ctr"/>
          <a:lstStyle/>
          <a:p>
            <a:pPr indent="0" marL="0">
              <a:buNone/>
            </a:pPr>
            <a:r>
              <a:rPr lang="en-US" sz="1900" b="1" dirty="0">
                <a:solidFill>
                  <a:schemeClr val="accent2"/>
                </a:solidFill>
              </a:rPr>
              <a:t>Variant</a:t>
            </a:r>
            <a:endParaRPr lang="en-US" sz="1900" dirty="0"/>
          </a:p>
        </p:txBody>
      </p:sp>
      <p:sp>
        <p:nvSpPr>
          <p:cNvPr id="11" name="Text 9"/>
          <p:cNvSpPr txBox="1"/>
          <p:nvPr/>
        </p:nvSpPr>
        <p:spPr>
          <a:xfrm>
            <a:off x="3063240" y="3611880"/>
            <a:ext cx="3657600" cy="896112"/>
          </a:xfrm>
          <a:prstGeom prst="rect">
            <a:avLst/>
          </a:prstGeom>
          <a:noFill/>
          <a:ln/>
        </p:spPr>
        <p:txBody>
          <a:bodyPr wrap="square" lIns="0" tIns="0" rIns="0" bIns="0" rtlCol="0" anchor="ctr"/>
          <a:lstStyle/>
          <a:p>
            <a:pPr indent="0" marL="0">
              <a:buNone/>
            </a:pPr>
            <a:r>
              <a:rPr lang="en-US" sz="1500" dirty="0">
                <a:solidFill>
                  <a:schemeClr val="tx2"/>
                </a:solidFill>
              </a:rPr>
              <a:t>For example ZXi: fuel, gearbox and price</a:t>
            </a:r>
            <a:endParaRPr lang="en-US" sz="1500" dirty="0"/>
          </a:p>
        </p:txBody>
      </p:sp>
      <p:sp>
        <p:nvSpPr>
          <p:cNvPr id="12" name="level Sub-variant"/>
          <p:cNvSpPr/>
          <p:nvPr/>
        </p:nvSpPr>
        <p:spPr>
          <a:xfrm>
            <a:off x="1508760" y="4663440"/>
            <a:ext cx="5440680" cy="896112"/>
          </a:xfrm>
          <a:prstGeom prst="roundRect">
            <a:avLst>
              <a:gd name="adj" fmla="val 14286"/>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3" name="Text 11"/>
          <p:cNvSpPr txBox="1"/>
          <p:nvPr/>
        </p:nvSpPr>
        <p:spPr>
          <a:xfrm>
            <a:off x="1783080" y="4663440"/>
            <a:ext cx="1554480" cy="896112"/>
          </a:xfrm>
          <a:prstGeom prst="rect">
            <a:avLst/>
          </a:prstGeom>
          <a:noFill/>
          <a:ln/>
        </p:spPr>
        <p:txBody>
          <a:bodyPr wrap="square" lIns="0" tIns="0" rIns="0" bIns="0" rtlCol="0" anchor="ctr"/>
          <a:lstStyle/>
          <a:p>
            <a:pPr indent="0" marL="0">
              <a:buNone/>
            </a:pPr>
            <a:r>
              <a:rPr lang="en-US" sz="1900" b="1" dirty="0">
                <a:solidFill>
                  <a:schemeClr val="accent2"/>
                </a:solidFill>
              </a:rPr>
              <a:t>Sub-variant</a:t>
            </a:r>
            <a:endParaRPr lang="en-US" sz="1900" dirty="0"/>
          </a:p>
        </p:txBody>
      </p:sp>
      <p:sp>
        <p:nvSpPr>
          <p:cNvPr id="14" name="Text 12"/>
          <p:cNvSpPr txBox="1"/>
          <p:nvPr/>
        </p:nvSpPr>
        <p:spPr>
          <a:xfrm>
            <a:off x="3383280" y="4663440"/>
            <a:ext cx="3337560" cy="896112"/>
          </a:xfrm>
          <a:prstGeom prst="rect">
            <a:avLst/>
          </a:prstGeom>
          <a:noFill/>
          <a:ln/>
        </p:spPr>
        <p:txBody>
          <a:bodyPr wrap="square" lIns="0" tIns="0" rIns="0" bIns="0" rtlCol="0" anchor="ctr"/>
          <a:lstStyle/>
          <a:p>
            <a:pPr indent="0" marL="0">
              <a:buNone/>
            </a:pPr>
            <a:r>
              <a:rPr lang="en-US" sz="1500" dirty="0">
                <a:solidFill>
                  <a:schemeClr val="tx2"/>
                </a:solidFill>
              </a:rPr>
              <a:t>The exact engine, paint and every colour on offer</a:t>
            </a:r>
            <a:endParaRPr lang="en-US" sz="1500" dirty="0"/>
          </a:p>
        </p:txBody>
      </p:sp>
      <p:sp>
        <p:nvSpPr>
          <p:cNvPr id="15" name="Text 13"/>
          <p:cNvSpPr txBox="1"/>
          <p:nvPr/>
        </p:nvSpPr>
        <p:spPr>
          <a:xfrm>
            <a:off x="548640" y="5760720"/>
            <a:ext cx="6400800" cy="365760"/>
          </a:xfrm>
          <a:prstGeom prst="rect">
            <a:avLst/>
          </a:prstGeom>
          <a:noFill/>
          <a:ln/>
        </p:spPr>
        <p:txBody>
          <a:bodyPr wrap="square" lIns="0" tIns="0" rIns="0" bIns="0" rtlCol="0" anchor="t"/>
          <a:lstStyle/>
          <a:p>
            <a:pPr indent="0" marL="0">
              <a:buNone/>
            </a:pPr>
            <a:r>
              <a:rPr lang="en-US" sz="1400" dirty="0">
                <a:solidFill>
                  <a:srgbClr val="6B7F78"/>
                </a:solidFill>
              </a:rPr>
              <a:t>Added step by step, from the brand down to the exact configuration.</a:t>
            </a:r>
            <a:endParaRPr lang="en-US" sz="1400" dirty="0"/>
          </a:p>
        </p:txBody>
      </p:sp>
      <p:sp>
        <p:nvSpPr>
          <p:cNvPr id="16" name="admin login screen frame"/>
          <p:cNvSpPr/>
          <p:nvPr/>
        </p:nvSpPr>
        <p:spPr>
          <a:xfrm>
            <a:off x="7955280" y="1508760"/>
            <a:ext cx="3474720" cy="3540557"/>
          </a:xfrm>
          <a:prstGeom prst="roundRect">
            <a:avLst>
              <a:gd name="adj" fmla="val 3158"/>
            </a:avLst>
          </a:prstGeom>
          <a:solidFill>
            <a:schemeClr val="bg1"/>
          </a:solidFill>
          <a:ln w="12700">
            <a:solidFill>
              <a:srgbClr val="D5E2DC"/>
            </a:solidFill>
            <a:prstDash val="solid"/>
          </a:ln>
          <a:effectLst>
            <a:outerShdw sx="100000" sy="100000" kx="0" ky="0" algn="bl" rotWithShape="0" blurRad="127000" dist="38100" dir="5400000">
              <a:srgbClr val="000000">
                <a:alpha val="14000"/>
              </a:srgbClr>
            </a:outerShdw>
          </a:effectLst>
        </p:spPr>
      </p:sp>
      <p:pic>
        <p:nvPicPr>
          <p:cNvPr id="17" name="admin login screen" descr="The Admin portal login screen">    </p:cNvPr>
          <p:cNvPicPr>
            <a:picLocks noChangeAspect="1"/>
          </p:cNvPicPr>
          <p:nvPr/>
        </p:nvPicPr>
        <p:blipFill>
          <a:blip r:embed="rId1"/>
          <a:stretch>
            <a:fillRect/>
          </a:stretch>
        </p:blipFill>
        <p:spPr>
          <a:xfrm>
            <a:off x="8046720" y="1600200"/>
            <a:ext cx="3291840" cy="3357677"/>
          </a:xfrm>
          <a:prstGeom prst="rect">
            <a:avLst/>
          </a:prstGeom>
        </p:spPr>
      </p:pic>
      <p:sp>
        <p:nvSpPr>
          <p:cNvPr id="18" name="Text 15"/>
          <p:cNvSpPr txBox="1"/>
          <p:nvPr/>
        </p:nvSpPr>
        <p:spPr>
          <a:xfrm>
            <a:off x="7955280" y="5257800"/>
            <a:ext cx="3566160" cy="914400"/>
          </a:xfrm>
          <a:prstGeom prst="rect">
            <a:avLst/>
          </a:prstGeom>
          <a:noFill/>
          <a:ln/>
        </p:spPr>
        <p:txBody>
          <a:bodyPr wrap="square" lIns="0" tIns="0" rIns="0" bIns="0" rtlCol="0" anchor="t"/>
          <a:lstStyle/>
          <a:p>
            <a:pPr indent="0" marL="0">
              <a:buNone/>
            </a:pPr>
            <a:r>
              <a:rPr lang="en-US" sz="1500" dirty="0">
                <a:solidFill>
                  <a:schemeClr val="tx2"/>
                </a:solidFill>
              </a:rPr>
              <a:t>Admins sign in on their own secure login, and can log out any time from the top bar.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13</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Your team stays in control of what customers see</a:t>
            </a:r>
            <a:endParaRPr lang="en-US" sz="3400" dirty="0"/>
          </a:p>
        </p:txBody>
      </p:sp>
      <p:sp>
        <p:nvSpPr>
          <p:cNvPr id="3" name="control card 1"/>
          <p:cNvSpPr/>
          <p:nvPr/>
        </p:nvSpPr>
        <p:spPr>
          <a:xfrm>
            <a:off x="548640" y="155448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control icon 1 bg"/>
          <p:cNvSpPr/>
          <p:nvPr/>
        </p:nvSpPr>
        <p:spPr>
          <a:xfrm>
            <a:off x="822960" y="1828800"/>
            <a:ext cx="640080" cy="640080"/>
          </a:xfrm>
          <a:prstGeom prst="ellipse">
            <a:avLst/>
          </a:prstGeom>
          <a:solidFill>
            <a:srgbClr val="1B4D3E"/>
          </a:solidFill>
          <a:ln w="12700">
            <a:solidFill>
              <a:srgbClr val="1B4D3E"/>
            </a:solidFill>
            <a:prstDash val="solid"/>
          </a:ln>
        </p:spPr>
      </p:sp>
      <p:pic>
        <p:nvPicPr>
          <p:cNvPr id="5" name="control icon 1" descr="FiTag">    </p:cNvPr>
          <p:cNvPicPr>
            <a:picLocks noChangeAspect="1"/>
          </p:cNvPicPr>
          <p:nvPr/>
        </p:nvPicPr>
        <p:blipFill>
          <a:blip r:embed="rId1"/>
          <a:stretch>
            <a:fillRect/>
          </a:stretch>
        </p:blipFill>
        <p:spPr>
          <a:xfrm>
            <a:off x="989381" y="1995221"/>
            <a:ext cx="307238" cy="307238"/>
          </a:xfrm>
          <a:prstGeom prst="rect">
            <a:avLst/>
          </a:prstGeom>
        </p:spPr>
      </p:pic>
      <p:sp>
        <p:nvSpPr>
          <p:cNvPr id="6" name="Text 3"/>
          <p:cNvSpPr txBox="1"/>
          <p:nvPr/>
        </p:nvSpPr>
        <p:spPr>
          <a:xfrm>
            <a:off x="1645920" y="182880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Brand and line-up</a:t>
            </a:r>
            <a:endParaRPr lang="en-US" sz="1900" dirty="0"/>
          </a:p>
        </p:txBody>
      </p:sp>
      <p:sp>
        <p:nvSpPr>
          <p:cNvPr id="7" name="Text 4"/>
          <p:cNvSpPr txBox="1"/>
          <p:nvPr/>
        </p:nvSpPr>
        <p:spPr>
          <a:xfrm>
            <a:off x="822960" y="2606040"/>
            <a:ext cx="3200400" cy="777240"/>
          </a:xfrm>
          <a:prstGeom prst="rect">
            <a:avLst/>
          </a:prstGeom>
          <a:noFill/>
          <a:ln/>
        </p:spPr>
        <p:txBody>
          <a:bodyPr wrap="square" lIns="0" tIns="0" rIns="0" bIns="0" rtlCol="0" anchor="t"/>
          <a:lstStyle/>
          <a:p>
            <a:pPr indent="0" marL="0">
              <a:buNone/>
            </a:pPr>
            <a:r>
              <a:rPr lang="en-US" sz="1500" dirty="0">
                <a:solidFill>
                  <a:schemeClr val="tx2"/>
                </a:solidFill>
              </a:rPr>
              <a:t>Your logo, history and the models you want to list</a:t>
            </a:r>
            <a:endParaRPr lang="en-US" sz="1500" dirty="0"/>
          </a:p>
        </p:txBody>
      </p:sp>
      <p:sp>
        <p:nvSpPr>
          <p:cNvPr id="8" name="control card 2"/>
          <p:cNvSpPr/>
          <p:nvPr/>
        </p:nvSpPr>
        <p:spPr>
          <a:xfrm>
            <a:off x="4480560" y="155448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control icon 2 bg"/>
          <p:cNvSpPr/>
          <p:nvPr/>
        </p:nvSpPr>
        <p:spPr>
          <a:xfrm>
            <a:off x="4754880" y="1828800"/>
            <a:ext cx="640080" cy="640080"/>
          </a:xfrm>
          <a:prstGeom prst="ellipse">
            <a:avLst/>
          </a:prstGeom>
          <a:solidFill>
            <a:srgbClr val="1B4D3E"/>
          </a:solidFill>
          <a:ln w="12700">
            <a:solidFill>
              <a:srgbClr val="1B4D3E"/>
            </a:solidFill>
            <a:prstDash val="solid"/>
          </a:ln>
        </p:spPr>
      </p:sp>
      <p:pic>
        <p:nvPicPr>
          <p:cNvPr id="10" name="control icon 2" descr="FiFileText">    </p:cNvPr>
          <p:cNvPicPr>
            <a:picLocks noChangeAspect="1"/>
          </p:cNvPicPr>
          <p:nvPr/>
        </p:nvPicPr>
        <p:blipFill>
          <a:blip r:embed="rId2"/>
          <a:stretch>
            <a:fillRect/>
          </a:stretch>
        </p:blipFill>
        <p:spPr>
          <a:xfrm>
            <a:off x="4921301" y="1995221"/>
            <a:ext cx="307238" cy="307238"/>
          </a:xfrm>
          <a:prstGeom prst="rect">
            <a:avLst/>
          </a:prstGeom>
        </p:spPr>
      </p:pic>
      <p:sp>
        <p:nvSpPr>
          <p:cNvPr id="11" name="Text 7"/>
          <p:cNvSpPr txBox="1"/>
          <p:nvPr/>
        </p:nvSpPr>
        <p:spPr>
          <a:xfrm>
            <a:off x="5577840" y="182880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Models and details</a:t>
            </a:r>
            <a:endParaRPr lang="en-US" sz="1900" dirty="0"/>
          </a:p>
        </p:txBody>
      </p:sp>
      <p:sp>
        <p:nvSpPr>
          <p:cNvPr id="12" name="Text 8"/>
          <p:cNvSpPr txBox="1"/>
          <p:nvPr/>
        </p:nvSpPr>
        <p:spPr>
          <a:xfrm>
            <a:off x="4754880" y="2606040"/>
            <a:ext cx="3200400" cy="777240"/>
          </a:xfrm>
          <a:prstGeom prst="rect">
            <a:avLst/>
          </a:prstGeom>
          <a:noFill/>
          <a:ln/>
        </p:spPr>
        <p:txBody>
          <a:bodyPr wrap="square" lIns="0" tIns="0" rIns="0" bIns="0" rtlCol="0" anchor="t"/>
          <a:lstStyle/>
          <a:p>
            <a:pPr indent="0" marL="0">
              <a:buNone/>
            </a:pPr>
            <a:r>
              <a:rPr lang="en-US" sz="1500" dirty="0">
                <a:solidFill>
                  <a:schemeClr val="tx2"/>
                </a:solidFill>
              </a:rPr>
              <a:t>Descriptions, highlights, dimensions, photos and brochures</a:t>
            </a:r>
            <a:endParaRPr lang="en-US" sz="1500" dirty="0"/>
          </a:p>
        </p:txBody>
      </p:sp>
      <p:sp>
        <p:nvSpPr>
          <p:cNvPr id="13" name="control card 3"/>
          <p:cNvSpPr/>
          <p:nvPr/>
        </p:nvSpPr>
        <p:spPr>
          <a:xfrm>
            <a:off x="548640" y="370332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control icon 3 bg"/>
          <p:cNvSpPr/>
          <p:nvPr/>
        </p:nvSpPr>
        <p:spPr>
          <a:xfrm>
            <a:off x="822960" y="3977640"/>
            <a:ext cx="640080" cy="640080"/>
          </a:xfrm>
          <a:prstGeom prst="ellipse">
            <a:avLst/>
          </a:prstGeom>
          <a:solidFill>
            <a:srgbClr val="1B4D3E"/>
          </a:solidFill>
          <a:ln w="12700">
            <a:solidFill>
              <a:srgbClr val="1B4D3E"/>
            </a:solidFill>
            <a:prstDash val="solid"/>
          </a:ln>
        </p:spPr>
      </p:sp>
      <p:pic>
        <p:nvPicPr>
          <p:cNvPr id="15" name="control icon 3" descr="FiLayers">    </p:cNvPr>
          <p:cNvPicPr>
            <a:picLocks noChangeAspect="1"/>
          </p:cNvPicPr>
          <p:nvPr/>
        </p:nvPicPr>
        <p:blipFill>
          <a:blip r:embed="rId3"/>
          <a:stretch>
            <a:fillRect/>
          </a:stretch>
        </p:blipFill>
        <p:spPr>
          <a:xfrm>
            <a:off x="989381" y="4144061"/>
            <a:ext cx="307238" cy="307238"/>
          </a:xfrm>
          <a:prstGeom prst="rect">
            <a:avLst/>
          </a:prstGeom>
        </p:spPr>
      </p:pic>
      <p:sp>
        <p:nvSpPr>
          <p:cNvPr id="16" name="Text 11"/>
          <p:cNvSpPr txBox="1"/>
          <p:nvPr/>
        </p:nvSpPr>
        <p:spPr>
          <a:xfrm>
            <a:off x="1645920" y="397764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Variants and prices</a:t>
            </a:r>
            <a:endParaRPr lang="en-US" sz="1900" dirty="0"/>
          </a:p>
        </p:txBody>
      </p:sp>
      <p:sp>
        <p:nvSpPr>
          <p:cNvPr id="17" name="Text 12"/>
          <p:cNvSpPr txBox="1"/>
          <p:nvPr/>
        </p:nvSpPr>
        <p:spPr>
          <a:xfrm>
            <a:off x="822960" y="4754880"/>
            <a:ext cx="3200400" cy="777240"/>
          </a:xfrm>
          <a:prstGeom prst="rect">
            <a:avLst/>
          </a:prstGeom>
          <a:noFill/>
          <a:ln/>
        </p:spPr>
        <p:txBody>
          <a:bodyPr wrap="square" lIns="0" tIns="0" rIns="0" bIns="0" rtlCol="0" anchor="t"/>
          <a:lstStyle/>
          <a:p>
            <a:pPr indent="0" marL="0">
              <a:buNone/>
            </a:pPr>
            <a:r>
              <a:rPr lang="en-US" sz="1500" dirty="0">
                <a:solidFill>
                  <a:schemeClr val="tx2"/>
                </a:solidFill>
              </a:rPr>
              <a:t>Each variant, its fuel, gearbox, colours and price</a:t>
            </a:r>
            <a:endParaRPr lang="en-US" sz="1500" dirty="0"/>
          </a:p>
        </p:txBody>
      </p:sp>
      <p:sp>
        <p:nvSpPr>
          <p:cNvPr id="18" name="control card 4"/>
          <p:cNvSpPr/>
          <p:nvPr/>
        </p:nvSpPr>
        <p:spPr>
          <a:xfrm>
            <a:off x="4480560" y="3703320"/>
            <a:ext cx="3703320" cy="1920240"/>
          </a:xfrm>
          <a:prstGeom prst="roundRect">
            <a:avLst>
              <a:gd name="adj" fmla="val 6667"/>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9" name="control icon 4 bg"/>
          <p:cNvSpPr/>
          <p:nvPr/>
        </p:nvSpPr>
        <p:spPr>
          <a:xfrm>
            <a:off x="4754880" y="3977640"/>
            <a:ext cx="640080" cy="640080"/>
          </a:xfrm>
          <a:prstGeom prst="ellipse">
            <a:avLst/>
          </a:prstGeom>
          <a:solidFill>
            <a:srgbClr val="1B4D3E"/>
          </a:solidFill>
          <a:ln w="12700">
            <a:solidFill>
              <a:srgbClr val="1B4D3E"/>
            </a:solidFill>
            <a:prstDash val="solid"/>
          </a:ln>
        </p:spPr>
      </p:sp>
      <p:pic>
        <p:nvPicPr>
          <p:cNvPr id="20" name="control icon 4" descr="FiEye">    </p:cNvPr>
          <p:cNvPicPr>
            <a:picLocks noChangeAspect="1"/>
          </p:cNvPicPr>
          <p:nvPr/>
        </p:nvPicPr>
        <p:blipFill>
          <a:blip r:embed="rId4"/>
          <a:stretch>
            <a:fillRect/>
          </a:stretch>
        </p:blipFill>
        <p:spPr>
          <a:xfrm>
            <a:off x="4921301" y="4144061"/>
            <a:ext cx="307238" cy="307238"/>
          </a:xfrm>
          <a:prstGeom prst="rect">
            <a:avLst/>
          </a:prstGeom>
        </p:spPr>
      </p:pic>
      <p:sp>
        <p:nvSpPr>
          <p:cNvPr id="21" name="Text 15"/>
          <p:cNvSpPr txBox="1"/>
          <p:nvPr/>
        </p:nvSpPr>
        <p:spPr>
          <a:xfrm>
            <a:off x="5577840" y="3977640"/>
            <a:ext cx="2423160" cy="640080"/>
          </a:xfrm>
          <a:prstGeom prst="rect">
            <a:avLst/>
          </a:prstGeom>
          <a:noFill/>
          <a:ln/>
        </p:spPr>
        <p:txBody>
          <a:bodyPr wrap="square" lIns="0" tIns="0" rIns="0" bIns="0" rtlCol="0" anchor="ctr"/>
          <a:lstStyle/>
          <a:p>
            <a:pPr indent="0" marL="0">
              <a:buNone/>
            </a:pPr>
            <a:r>
              <a:rPr lang="en-US" sz="1900" b="1" dirty="0">
                <a:solidFill>
                  <a:schemeClr val="tx1"/>
                </a:solidFill>
              </a:rPr>
              <a:t>Publish or hide</a:t>
            </a:r>
            <a:endParaRPr lang="en-US" sz="1900" dirty="0"/>
          </a:p>
        </p:txBody>
      </p:sp>
      <p:sp>
        <p:nvSpPr>
          <p:cNvPr id="22" name="Text 16"/>
          <p:cNvSpPr txBox="1"/>
          <p:nvPr/>
        </p:nvSpPr>
        <p:spPr>
          <a:xfrm>
            <a:off x="4754880" y="4754880"/>
            <a:ext cx="3200400" cy="777240"/>
          </a:xfrm>
          <a:prstGeom prst="rect">
            <a:avLst/>
          </a:prstGeom>
          <a:noFill/>
          <a:ln/>
        </p:spPr>
        <p:txBody>
          <a:bodyPr wrap="square" lIns="0" tIns="0" rIns="0" bIns="0" rtlCol="0" anchor="t"/>
          <a:lstStyle/>
          <a:p>
            <a:pPr indent="0" marL="0">
              <a:buNone/>
            </a:pPr>
            <a:r>
              <a:rPr lang="en-US" sz="1500" dirty="0">
                <a:solidFill>
                  <a:schemeClr val="tx2"/>
                </a:solidFill>
              </a:rPr>
              <a:t>Switch a model on or off without deleting it</a:t>
            </a:r>
            <a:endParaRPr lang="en-US" sz="1500" dirty="0"/>
          </a:p>
        </p:txBody>
      </p:sp>
      <p:sp>
        <p:nvSpPr>
          <p:cNvPr id="23" name="control promise"/>
          <p:cNvSpPr/>
          <p:nvPr/>
        </p:nvSpPr>
        <p:spPr>
          <a:xfrm>
            <a:off x="8503920" y="1554480"/>
            <a:ext cx="3108960" cy="4069080"/>
          </a:xfrm>
          <a:prstGeom prst="roundRect">
            <a:avLst>
              <a:gd name="adj" fmla="val 4118"/>
            </a:avLst>
          </a:prstGeom>
          <a:solidFill>
            <a:schemeClr val="tx1"/>
          </a:solidFill>
          <a:ln w="12700">
            <a:solidFill>
              <a:schemeClr val="tx1"/>
            </a:solidFill>
            <a:prstDash val="solid"/>
          </a:ln>
          <a:effectLst>
            <a:outerShdw sx="100000" sy="100000" kx="0" ky="0" algn="bl" rotWithShape="0" blurRad="127000" dist="38100" dir="5400000">
              <a:srgbClr val="000000">
                <a:alpha val="14000"/>
              </a:srgbClr>
            </a:outerShdw>
          </a:effectLst>
        </p:spPr>
      </p:sp>
      <p:sp>
        <p:nvSpPr>
          <p:cNvPr id="24" name="Text 18"/>
          <p:cNvSpPr txBox="1"/>
          <p:nvPr/>
        </p:nvSpPr>
        <p:spPr>
          <a:xfrm>
            <a:off x="8778240" y="1783080"/>
            <a:ext cx="2560320" cy="457200"/>
          </a:xfrm>
          <a:prstGeom prst="rect">
            <a:avLst/>
          </a:prstGeom>
          <a:noFill/>
          <a:ln/>
        </p:spPr>
        <p:txBody>
          <a:bodyPr wrap="square" lIns="0" tIns="0" rIns="0" bIns="0" rtlCol="0" anchor="t"/>
          <a:lstStyle/>
          <a:p>
            <a:pPr indent="0" marL="0">
              <a:buNone/>
            </a:pPr>
            <a:r>
              <a:rPr lang="en-US" sz="2400" b="1" dirty="0">
                <a:solidFill>
                  <a:schemeClr val="accent1"/>
                </a:solidFill>
              </a:rPr>
              <a:t>You decide</a:t>
            </a:r>
            <a:endParaRPr lang="en-US" sz="2400" dirty="0"/>
          </a:p>
        </p:txBody>
      </p:sp>
      <p:sp>
        <p:nvSpPr>
          <p:cNvPr id="25" name="Text 19"/>
          <p:cNvSpPr txBox="1"/>
          <p:nvPr/>
        </p:nvSpPr>
        <p:spPr>
          <a:xfrm>
            <a:off x="8778240" y="2423160"/>
            <a:ext cx="2606040" cy="2926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Which models appear</a:t>
            </a:r>
            <a:endParaRPr lang="en-US" sz="1700" dirty="0"/>
          </a:p>
          <a:p>
            <a:pPr marL="342900" indent="-342900">
              <a:spcAft>
                <a:spcPts val="1000"/>
              </a:spcAft>
              <a:buSzPct val="100000"/>
              <a:buChar char="•"/>
            </a:pPr>
            <a:r>
              <a:rPr lang="en-US" sz="1700" dirty="0">
                <a:solidFill>
                  <a:schemeClr val="bg1"/>
                </a:solidFill>
              </a:rPr>
              <a:t>What the price says</a:t>
            </a:r>
            <a:endParaRPr lang="en-US" sz="1700" dirty="0"/>
          </a:p>
          <a:p>
            <a:pPr marL="342900" indent="-342900">
              <a:spcAft>
                <a:spcPts val="1000"/>
              </a:spcAft>
              <a:buSzPct val="100000"/>
              <a:buChar char="•"/>
            </a:pPr>
            <a:r>
              <a:rPr lang="en-US" sz="1700" dirty="0">
                <a:solidFill>
                  <a:schemeClr val="bg1"/>
                </a:solidFill>
              </a:rPr>
              <a:t>Which photos and brochure customers see</a:t>
            </a:r>
            <a:endParaRPr lang="en-US" sz="1700" dirty="0"/>
          </a:p>
          <a:p>
            <a:pPr marL="342900" indent="-342900">
              <a:spcAft>
                <a:spcPts val="1000"/>
              </a:spcAft>
              <a:buSzPct val="100000"/>
              <a:buChar char="•"/>
            </a:pPr>
            <a:r>
              <a:rPr lang="en-US" sz="1700" dirty="0">
                <a:solidFill>
                  <a:schemeClr val="bg1"/>
                </a:solidFill>
              </a:rPr>
              <a:t>When a model goes live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your brands get from VirtualDrive</a:t>
            </a:r>
            <a:endParaRPr lang="en-US" sz="3400" dirty="0"/>
          </a:p>
        </p:txBody>
      </p:sp>
      <p:sp>
        <p:nvSpPr>
          <p:cNvPr id="3" name="benefit card 1"/>
          <p:cNvSpPr/>
          <p:nvPr/>
        </p:nvSpPr>
        <p:spPr>
          <a:xfrm>
            <a:off x="548640" y="155448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4" name="benefit icon 1 bg"/>
          <p:cNvSpPr/>
          <p:nvPr/>
        </p:nvSpPr>
        <p:spPr>
          <a:xfrm>
            <a:off x="822960" y="1828800"/>
            <a:ext cx="685800" cy="685800"/>
          </a:xfrm>
          <a:prstGeom prst="ellipse">
            <a:avLst/>
          </a:prstGeom>
          <a:solidFill>
            <a:srgbClr val="1B8A6B"/>
          </a:solidFill>
          <a:ln w="12700">
            <a:solidFill>
              <a:srgbClr val="1B8A6B"/>
            </a:solidFill>
            <a:prstDash val="solid"/>
          </a:ln>
        </p:spPr>
      </p:sp>
      <p:pic>
        <p:nvPicPr>
          <p:cNvPr id="5" name="benefit icon 1" descr="FiGlobe">    </p:cNvPr>
          <p:cNvPicPr>
            <a:picLocks noChangeAspect="1"/>
          </p:cNvPicPr>
          <p:nvPr/>
        </p:nvPicPr>
        <p:blipFill>
          <a:blip r:embed="rId1"/>
          <a:stretch>
            <a:fillRect/>
          </a:stretch>
        </p:blipFill>
        <p:spPr>
          <a:xfrm>
            <a:off x="1001268" y="2007108"/>
            <a:ext cx="329184" cy="329184"/>
          </a:xfrm>
          <a:prstGeom prst="rect">
            <a:avLst/>
          </a:prstGeom>
        </p:spPr>
      </p:pic>
      <p:sp>
        <p:nvSpPr>
          <p:cNvPr id="6" name="Text 3"/>
          <p:cNvSpPr txBox="1"/>
          <p:nvPr/>
        </p:nvSpPr>
        <p:spPr>
          <a:xfrm>
            <a:off x="1737360" y="182880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A showroom that never closes</a:t>
            </a:r>
            <a:endParaRPr lang="en-US" sz="2000" dirty="0"/>
          </a:p>
        </p:txBody>
      </p:sp>
      <p:sp>
        <p:nvSpPr>
          <p:cNvPr id="7" name="Text 4"/>
          <p:cNvSpPr txBox="1"/>
          <p:nvPr/>
        </p:nvSpPr>
        <p:spPr>
          <a:xfrm>
            <a:off x="1737360" y="2560320"/>
            <a:ext cx="4023360" cy="914400"/>
          </a:xfrm>
          <a:prstGeom prst="rect">
            <a:avLst/>
          </a:prstGeom>
          <a:noFill/>
          <a:ln/>
        </p:spPr>
        <p:txBody>
          <a:bodyPr wrap="square" lIns="0" tIns="0" rIns="0" bIns="0" rtlCol="0" anchor="t"/>
          <a:lstStyle/>
          <a:p>
            <a:pPr indent="0" marL="0">
              <a:buNone/>
            </a:pPr>
            <a:r>
              <a:rPr lang="en-US" sz="1500" dirty="0">
                <a:solidFill>
                  <a:schemeClr val="tx2"/>
                </a:solidFill>
              </a:rPr>
              <a:t>Your full line-up, open to buyers at any hour, with the same quality of presentation for every model.</a:t>
            </a:r>
            <a:endParaRPr lang="en-US" sz="1500" dirty="0"/>
          </a:p>
        </p:txBody>
      </p:sp>
      <p:sp>
        <p:nvSpPr>
          <p:cNvPr id="8" name="benefit card 2"/>
          <p:cNvSpPr/>
          <p:nvPr/>
        </p:nvSpPr>
        <p:spPr>
          <a:xfrm>
            <a:off x="6172200" y="155448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9" name="benefit icon 2 bg"/>
          <p:cNvSpPr/>
          <p:nvPr/>
        </p:nvSpPr>
        <p:spPr>
          <a:xfrm>
            <a:off x="6446520" y="1828800"/>
            <a:ext cx="685800" cy="685800"/>
          </a:xfrm>
          <a:prstGeom prst="ellipse">
            <a:avLst/>
          </a:prstGeom>
          <a:solidFill>
            <a:srgbClr val="1B8A6B"/>
          </a:solidFill>
          <a:ln w="12700">
            <a:solidFill>
              <a:srgbClr val="1B8A6B"/>
            </a:solidFill>
            <a:prstDash val="solid"/>
          </a:ln>
        </p:spPr>
      </p:sp>
      <p:pic>
        <p:nvPicPr>
          <p:cNvPr id="10" name="benefit icon 2" descr="FiUserCheck">    </p:cNvPr>
          <p:cNvPicPr>
            <a:picLocks noChangeAspect="1"/>
          </p:cNvPicPr>
          <p:nvPr/>
        </p:nvPicPr>
        <p:blipFill>
          <a:blip r:embed="rId2"/>
          <a:stretch>
            <a:fillRect/>
          </a:stretch>
        </p:blipFill>
        <p:spPr>
          <a:xfrm>
            <a:off x="6624828" y="2007108"/>
            <a:ext cx="329184" cy="329184"/>
          </a:xfrm>
          <a:prstGeom prst="rect">
            <a:avLst/>
          </a:prstGeom>
        </p:spPr>
      </p:pic>
      <p:sp>
        <p:nvSpPr>
          <p:cNvPr id="11" name="Text 7"/>
          <p:cNvSpPr txBox="1"/>
          <p:nvPr/>
        </p:nvSpPr>
        <p:spPr>
          <a:xfrm>
            <a:off x="7360920" y="182880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Complete, ready-to-call requests</a:t>
            </a:r>
            <a:endParaRPr lang="en-US" sz="2000" dirty="0"/>
          </a:p>
        </p:txBody>
      </p:sp>
      <p:sp>
        <p:nvSpPr>
          <p:cNvPr id="12" name="Text 8"/>
          <p:cNvSpPr txBox="1"/>
          <p:nvPr/>
        </p:nvSpPr>
        <p:spPr>
          <a:xfrm>
            <a:off x="7360920" y="2560320"/>
            <a:ext cx="4023360" cy="914400"/>
          </a:xfrm>
          <a:prstGeom prst="rect">
            <a:avLst/>
          </a:prstGeom>
          <a:noFill/>
          <a:ln/>
        </p:spPr>
        <p:txBody>
          <a:bodyPr wrap="square" lIns="0" tIns="0" rIns="0" bIns="0" rtlCol="0" anchor="t"/>
          <a:lstStyle/>
          <a:p>
            <a:pPr indent="0" marL="0">
              <a:buNone/>
            </a:pPr>
            <a:r>
              <a:rPr lang="en-US" sz="1500" dirty="0">
                <a:solidFill>
                  <a:schemeClr val="tx2"/>
                </a:solidFill>
              </a:rPr>
              <a:t>Name, phone, car, date, time and place for every test drive. Nothing to chase.</a:t>
            </a:r>
            <a:endParaRPr lang="en-US" sz="1500" dirty="0"/>
          </a:p>
        </p:txBody>
      </p:sp>
      <p:sp>
        <p:nvSpPr>
          <p:cNvPr id="13" name="benefit card 3"/>
          <p:cNvSpPr/>
          <p:nvPr/>
        </p:nvSpPr>
        <p:spPr>
          <a:xfrm>
            <a:off x="548640" y="379476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4" name="benefit icon 3 bg"/>
          <p:cNvSpPr/>
          <p:nvPr/>
        </p:nvSpPr>
        <p:spPr>
          <a:xfrm>
            <a:off x="822960" y="4069080"/>
            <a:ext cx="685800" cy="685800"/>
          </a:xfrm>
          <a:prstGeom prst="ellipse">
            <a:avLst/>
          </a:prstGeom>
          <a:solidFill>
            <a:srgbClr val="1B8A6B"/>
          </a:solidFill>
          <a:ln w="12700">
            <a:solidFill>
              <a:srgbClr val="1B8A6B"/>
            </a:solidFill>
            <a:prstDash val="solid"/>
          </a:ln>
        </p:spPr>
      </p:sp>
      <p:pic>
        <p:nvPicPr>
          <p:cNvPr id="15" name="benefit icon 3" descr="FiCreditCard">    </p:cNvPr>
          <p:cNvPicPr>
            <a:picLocks noChangeAspect="1"/>
          </p:cNvPicPr>
          <p:nvPr/>
        </p:nvPicPr>
        <p:blipFill>
          <a:blip r:embed="rId3"/>
          <a:stretch>
            <a:fillRect/>
          </a:stretch>
        </p:blipFill>
        <p:spPr>
          <a:xfrm>
            <a:off x="1001268" y="4247388"/>
            <a:ext cx="329184" cy="329184"/>
          </a:xfrm>
          <a:prstGeom prst="rect">
            <a:avLst/>
          </a:prstGeom>
        </p:spPr>
      </p:pic>
      <p:sp>
        <p:nvSpPr>
          <p:cNvPr id="16" name="Text 11"/>
          <p:cNvSpPr txBox="1"/>
          <p:nvPr/>
        </p:nvSpPr>
        <p:spPr>
          <a:xfrm>
            <a:off x="1737360" y="406908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Serious buyers</a:t>
            </a:r>
            <a:endParaRPr lang="en-US" sz="2000" dirty="0"/>
          </a:p>
        </p:txBody>
      </p:sp>
      <p:sp>
        <p:nvSpPr>
          <p:cNvPr id="17" name="Text 12"/>
          <p:cNvSpPr txBox="1"/>
          <p:nvPr/>
        </p:nvSpPr>
        <p:spPr>
          <a:xfrm>
            <a:off x="1737360" y="4800600"/>
            <a:ext cx="4023360" cy="914400"/>
          </a:xfrm>
          <a:prstGeom prst="rect">
            <a:avLst/>
          </a:prstGeom>
          <a:noFill/>
          <a:ln/>
        </p:spPr>
        <p:txBody>
          <a:bodyPr wrap="square" lIns="0" tIns="0" rIns="0" bIns="0" rtlCol="0" anchor="t"/>
          <a:lstStyle/>
          <a:p>
            <a:pPr indent="0" marL="0">
              <a:buNone/>
            </a:pPr>
            <a:r>
              <a:rPr lang="en-US" sz="1500" dirty="0">
                <a:solidFill>
                  <a:schemeClr val="tx2"/>
                </a:solidFill>
              </a:rPr>
              <a:t>Online booking payments separate real intent from casual browsing.</a:t>
            </a:r>
            <a:endParaRPr lang="en-US" sz="1500" dirty="0"/>
          </a:p>
        </p:txBody>
      </p:sp>
      <p:sp>
        <p:nvSpPr>
          <p:cNvPr id="18" name="benefit card 4"/>
          <p:cNvSpPr/>
          <p:nvPr/>
        </p:nvSpPr>
        <p:spPr>
          <a:xfrm>
            <a:off x="6172200" y="3794760"/>
            <a:ext cx="5440680" cy="2011680"/>
          </a:xfrm>
          <a:prstGeom prst="roundRect">
            <a:avLst>
              <a:gd name="adj" fmla="val 6364"/>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19" name="benefit icon 4 bg"/>
          <p:cNvSpPr/>
          <p:nvPr/>
        </p:nvSpPr>
        <p:spPr>
          <a:xfrm>
            <a:off x="6446520" y="4069080"/>
            <a:ext cx="685800" cy="685800"/>
          </a:xfrm>
          <a:prstGeom prst="ellipse">
            <a:avLst/>
          </a:prstGeom>
          <a:solidFill>
            <a:srgbClr val="1B8A6B"/>
          </a:solidFill>
          <a:ln w="12700">
            <a:solidFill>
              <a:srgbClr val="1B8A6B"/>
            </a:solidFill>
            <a:prstDash val="solid"/>
          </a:ln>
        </p:spPr>
      </p:sp>
      <p:pic>
        <p:nvPicPr>
          <p:cNvPr id="20" name="benefit icon 4" descr="FiSliders">    </p:cNvPr>
          <p:cNvPicPr>
            <a:picLocks noChangeAspect="1"/>
          </p:cNvPicPr>
          <p:nvPr/>
        </p:nvPicPr>
        <p:blipFill>
          <a:blip r:embed="rId4"/>
          <a:stretch>
            <a:fillRect/>
          </a:stretch>
        </p:blipFill>
        <p:spPr>
          <a:xfrm>
            <a:off x="6624828" y="4247388"/>
            <a:ext cx="329184" cy="329184"/>
          </a:xfrm>
          <a:prstGeom prst="rect">
            <a:avLst/>
          </a:prstGeom>
        </p:spPr>
      </p:pic>
      <p:sp>
        <p:nvSpPr>
          <p:cNvPr id="21" name="Text 15"/>
          <p:cNvSpPr txBox="1"/>
          <p:nvPr/>
        </p:nvSpPr>
        <p:spPr>
          <a:xfrm>
            <a:off x="7360920" y="4069080"/>
            <a:ext cx="4023360" cy="685800"/>
          </a:xfrm>
          <a:prstGeom prst="rect">
            <a:avLst/>
          </a:prstGeom>
          <a:noFill/>
          <a:ln/>
        </p:spPr>
        <p:txBody>
          <a:bodyPr wrap="square" lIns="0" tIns="0" rIns="0" bIns="0" rtlCol="0" anchor="ctr"/>
          <a:lstStyle/>
          <a:p>
            <a:pPr indent="0" marL="0">
              <a:buNone/>
            </a:pPr>
            <a:r>
              <a:rPr lang="en-US" sz="2000" b="1" dirty="0">
                <a:solidFill>
                  <a:schemeClr val="tx1"/>
                </a:solidFill>
              </a:rPr>
              <a:t>Full control of your brand</a:t>
            </a:r>
            <a:endParaRPr lang="en-US" sz="2000" dirty="0"/>
          </a:p>
        </p:txBody>
      </p:sp>
      <p:sp>
        <p:nvSpPr>
          <p:cNvPr id="22" name="Text 16"/>
          <p:cNvSpPr txBox="1"/>
          <p:nvPr/>
        </p:nvSpPr>
        <p:spPr>
          <a:xfrm>
            <a:off x="7360920" y="4800600"/>
            <a:ext cx="4023360" cy="914400"/>
          </a:xfrm>
          <a:prstGeom prst="rect">
            <a:avLst/>
          </a:prstGeom>
          <a:noFill/>
          <a:ln/>
        </p:spPr>
        <p:txBody>
          <a:bodyPr wrap="square" lIns="0" tIns="0" rIns="0" bIns="0" rtlCol="0" anchor="t"/>
          <a:lstStyle/>
          <a:p>
            <a:pPr indent="0" marL="0">
              <a:buNone/>
            </a:pPr>
            <a:r>
              <a:rPr lang="en-US" sz="1500" dirty="0">
                <a:solidFill>
                  <a:schemeClr val="tx2"/>
                </a:solidFill>
              </a:rPr>
              <a:t>You set the models, prices, photos and brochures. We never change them.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 simple way to start</a:t>
            </a:r>
            <a:endParaRPr lang="en-US" sz="3400" dirty="0"/>
          </a:p>
        </p:txBody>
      </p:sp>
      <p:sp>
        <p:nvSpPr>
          <p:cNvPr id="3" name="way number 1"/>
          <p:cNvSpPr/>
          <p:nvPr/>
        </p:nvSpPr>
        <p:spPr>
          <a:xfrm>
            <a:off x="548640" y="1645920"/>
            <a:ext cx="777240" cy="777240"/>
          </a:xfrm>
          <a:prstGeom prst="ellipse">
            <a:avLst/>
          </a:prstGeom>
          <a:solidFill>
            <a:schemeClr val="accent1"/>
          </a:solidFill>
          <a:ln w="12700">
            <a:solidFill>
              <a:schemeClr val="bg1"/>
            </a:solidFill>
            <a:prstDash val="solid"/>
          </a:ln>
        </p:spPr>
      </p:sp>
      <p:sp>
        <p:nvSpPr>
          <p:cNvPr id="4" name="Text 2"/>
          <p:cNvSpPr txBox="1"/>
          <p:nvPr/>
        </p:nvSpPr>
        <p:spPr>
          <a:xfrm>
            <a:off x="548640" y="1645920"/>
            <a:ext cx="777240" cy="777240"/>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5" name="Text 3"/>
          <p:cNvSpPr txBox="1"/>
          <p:nvPr/>
        </p:nvSpPr>
        <p:spPr>
          <a:xfrm>
            <a:off x="548640"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Agree</a:t>
            </a:r>
            <a:endParaRPr lang="en-US" sz="2100" dirty="0"/>
          </a:p>
        </p:txBody>
      </p:sp>
      <p:sp>
        <p:nvSpPr>
          <p:cNvPr id="6" name="Text 4"/>
          <p:cNvSpPr txBox="1"/>
          <p:nvPr/>
        </p:nvSpPr>
        <p:spPr>
          <a:xfrm>
            <a:off x="548640"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JM &amp; TM approve listing their models on VirtualDrive</a:t>
            </a:r>
            <a:endParaRPr lang="en-US" sz="1600" dirty="0"/>
          </a:p>
        </p:txBody>
      </p:sp>
      <p:sp>
        <p:nvSpPr>
          <p:cNvPr id="7" name="way number 2"/>
          <p:cNvSpPr/>
          <p:nvPr/>
        </p:nvSpPr>
        <p:spPr>
          <a:xfrm>
            <a:off x="3364992" y="1645920"/>
            <a:ext cx="777240" cy="777240"/>
          </a:xfrm>
          <a:prstGeom prst="ellipse">
            <a:avLst/>
          </a:prstGeom>
          <a:solidFill>
            <a:schemeClr val="tx1"/>
          </a:solidFill>
          <a:ln w="12700">
            <a:solidFill>
              <a:schemeClr val="bg1"/>
            </a:solidFill>
            <a:prstDash val="solid"/>
          </a:ln>
        </p:spPr>
      </p:sp>
      <p:sp>
        <p:nvSpPr>
          <p:cNvPr id="8" name="Text 6"/>
          <p:cNvSpPr txBox="1"/>
          <p:nvPr/>
        </p:nvSpPr>
        <p:spPr>
          <a:xfrm>
            <a:off x="3364992" y="164592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9" name="Text 7"/>
          <p:cNvSpPr txBox="1"/>
          <p:nvPr/>
        </p:nvSpPr>
        <p:spPr>
          <a:xfrm>
            <a:off x="3364992"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Load the catalogue</a:t>
            </a:r>
            <a:endParaRPr lang="en-US" sz="2100" dirty="0"/>
          </a:p>
        </p:txBody>
      </p:sp>
      <p:sp>
        <p:nvSpPr>
          <p:cNvPr id="10" name="Text 8"/>
          <p:cNvSpPr txBox="1"/>
          <p:nvPr/>
        </p:nvSpPr>
        <p:spPr>
          <a:xfrm>
            <a:off x="3364992"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Photos, specs, variants and brochures added for your review</a:t>
            </a:r>
            <a:endParaRPr lang="en-US" sz="1600" dirty="0"/>
          </a:p>
        </p:txBody>
      </p:sp>
      <p:sp>
        <p:nvSpPr>
          <p:cNvPr id="11" name="way number 3"/>
          <p:cNvSpPr/>
          <p:nvPr/>
        </p:nvSpPr>
        <p:spPr>
          <a:xfrm>
            <a:off x="6181344" y="1645920"/>
            <a:ext cx="777240" cy="777240"/>
          </a:xfrm>
          <a:prstGeom prst="ellipse">
            <a:avLst/>
          </a:prstGeom>
          <a:solidFill>
            <a:schemeClr val="tx1"/>
          </a:solidFill>
          <a:ln w="12700">
            <a:solidFill>
              <a:schemeClr val="bg1"/>
            </a:solidFill>
            <a:prstDash val="solid"/>
          </a:ln>
        </p:spPr>
      </p:sp>
      <p:sp>
        <p:nvSpPr>
          <p:cNvPr id="12" name="Text 10"/>
          <p:cNvSpPr txBox="1"/>
          <p:nvPr/>
        </p:nvSpPr>
        <p:spPr>
          <a:xfrm>
            <a:off x="6181344" y="164592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3" name="Text 11"/>
          <p:cNvSpPr txBox="1"/>
          <p:nvPr/>
        </p:nvSpPr>
        <p:spPr>
          <a:xfrm>
            <a:off x="6181344"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Pilot launch</a:t>
            </a:r>
            <a:endParaRPr lang="en-US" sz="2100" dirty="0"/>
          </a:p>
        </p:txBody>
      </p:sp>
      <p:sp>
        <p:nvSpPr>
          <p:cNvPr id="14" name="Text 12"/>
          <p:cNvSpPr txBox="1"/>
          <p:nvPr/>
        </p:nvSpPr>
        <p:spPr>
          <a:xfrm>
            <a:off x="6181344"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A small start with selected models to see it working</a:t>
            </a:r>
            <a:endParaRPr lang="en-US" sz="1600" dirty="0"/>
          </a:p>
        </p:txBody>
      </p:sp>
      <p:sp>
        <p:nvSpPr>
          <p:cNvPr id="15" name="way number 4"/>
          <p:cNvSpPr/>
          <p:nvPr/>
        </p:nvSpPr>
        <p:spPr>
          <a:xfrm>
            <a:off x="8997696" y="1645920"/>
            <a:ext cx="777240" cy="777240"/>
          </a:xfrm>
          <a:prstGeom prst="ellipse">
            <a:avLst/>
          </a:prstGeom>
          <a:solidFill>
            <a:schemeClr val="tx1"/>
          </a:solidFill>
          <a:ln w="12700">
            <a:solidFill>
              <a:schemeClr val="bg1"/>
            </a:solidFill>
            <a:prstDash val="solid"/>
          </a:ln>
        </p:spPr>
      </p:sp>
      <p:sp>
        <p:nvSpPr>
          <p:cNvPr id="16" name="Text 14"/>
          <p:cNvSpPr txBox="1"/>
          <p:nvPr/>
        </p:nvSpPr>
        <p:spPr>
          <a:xfrm>
            <a:off x="8997696" y="164592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7" name="Text 15"/>
          <p:cNvSpPr txBox="1"/>
          <p:nvPr/>
        </p:nvSpPr>
        <p:spPr>
          <a:xfrm>
            <a:off x="8997696" y="2697480"/>
            <a:ext cx="2560320" cy="457200"/>
          </a:xfrm>
          <a:prstGeom prst="rect">
            <a:avLst/>
          </a:prstGeom>
          <a:noFill/>
          <a:ln/>
        </p:spPr>
        <p:txBody>
          <a:bodyPr wrap="square" lIns="0" tIns="0" rIns="0" bIns="0" rtlCol="0" anchor="t"/>
          <a:lstStyle/>
          <a:p>
            <a:pPr indent="0" marL="0">
              <a:buNone/>
            </a:pPr>
            <a:r>
              <a:rPr lang="en-US" sz="2100" b="1" dirty="0">
                <a:solidFill>
                  <a:schemeClr val="tx1"/>
                </a:solidFill>
              </a:rPr>
              <a:t>Go live</a:t>
            </a:r>
            <a:endParaRPr lang="en-US" sz="2100" dirty="0"/>
          </a:p>
        </p:txBody>
      </p:sp>
      <p:sp>
        <p:nvSpPr>
          <p:cNvPr id="18" name="Text 16"/>
          <p:cNvSpPr txBox="1"/>
          <p:nvPr/>
        </p:nvSpPr>
        <p:spPr>
          <a:xfrm>
            <a:off x="8997696" y="3200400"/>
            <a:ext cx="2468880" cy="1097280"/>
          </a:xfrm>
          <a:prstGeom prst="rect">
            <a:avLst/>
          </a:prstGeom>
          <a:noFill/>
          <a:ln/>
        </p:spPr>
        <p:txBody>
          <a:bodyPr wrap="square" lIns="0" tIns="0" rIns="0" bIns="0" rtlCol="0" anchor="t"/>
          <a:lstStyle/>
          <a:p>
            <a:pPr indent="0" marL="0">
              <a:buNone/>
            </a:pPr>
            <a:r>
              <a:rPr lang="en-US" sz="1600" dirty="0">
                <a:solidFill>
                  <a:schemeClr val="tx2"/>
                </a:solidFill>
              </a:rPr>
              <a:t>Open the full line-up to customers</a:t>
            </a:r>
            <a:endParaRPr lang="en-US" sz="1600" dirty="0"/>
          </a:p>
        </p:txBody>
      </p:sp>
      <p:sp>
        <p:nvSpPr>
          <p:cNvPr id="19" name="coming next"/>
          <p:cNvSpPr/>
          <p:nvPr/>
        </p:nvSpPr>
        <p:spPr>
          <a:xfrm>
            <a:off x="548640" y="4572000"/>
            <a:ext cx="11064240" cy="1371600"/>
          </a:xfrm>
          <a:prstGeom prst="roundRect">
            <a:avLst>
              <a:gd name="adj" fmla="val 9333"/>
            </a:avLst>
          </a:prstGeom>
          <a:solidFill>
            <a:schemeClr val="bg2"/>
          </a:solidFill>
          <a:ln w="12700">
            <a:solidFill>
              <a:schemeClr val="bg2"/>
            </a:solidFill>
            <a:prstDash val="solid"/>
          </a:ln>
          <a:effectLst>
            <a:outerShdw sx="100000" sy="100000" kx="0" ky="0" algn="bl" rotWithShape="0" blurRad="127000" dist="38100" dir="5400000">
              <a:srgbClr val="000000">
                <a:alpha val="14000"/>
              </a:srgbClr>
            </a:outerShdw>
          </a:effectLst>
        </p:spPr>
      </p:sp>
      <p:sp>
        <p:nvSpPr>
          <p:cNvPr id="20" name="Text 18"/>
          <p:cNvSpPr txBox="1"/>
          <p:nvPr/>
        </p:nvSpPr>
        <p:spPr>
          <a:xfrm>
            <a:off x="868680" y="4572000"/>
            <a:ext cx="10424160" cy="1371600"/>
          </a:xfrm>
          <a:prstGeom prst="rect">
            <a:avLst/>
          </a:prstGeom>
          <a:noFill/>
          <a:ln/>
        </p:spPr>
        <p:txBody>
          <a:bodyPr wrap="square" lIns="0" tIns="0" rIns="0" bIns="0" rtlCol="0" anchor="ctr"/>
          <a:lstStyle/>
          <a:p>
            <a:pPr indent="0" marL="0">
              <a:buNone/>
            </a:pPr>
            <a:r>
              <a:rPr lang="en-US" sz="1900" b="1" dirty="0">
                <a:solidFill>
                  <a:schemeClr val="accent2"/>
                </a:solidFill>
              </a:rPr>
              <a:t>Coming next: </a:t>
            </a:r>
            <a:pPr indent="0" marL="0">
              <a:buNone/>
            </a:pPr>
            <a:r>
              <a:rPr lang="en-US" sz="1900" dirty="0">
                <a:solidFill>
                  <a:schemeClr val="tx1"/>
                </a:solidFill>
              </a:rPr>
              <a:t>a booking dashboard and reports for your sales team, so every request and reservation can be reviewed in one view.</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16</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Future scope: the full product</a:t>
            </a:r>
            <a:endParaRPr lang="en-US" sz="3400" dirty="0"/>
          </a:p>
        </p:txBody>
      </p:sp>
      <p:sp>
        <p:nvSpPr>
          <p:cNvPr id="3" name="Rounded Rectangle 2"/>
          <p:cNvSpPr/>
          <p:nvPr/>
        </p:nvSpPr>
        <p:spPr>
          <a:xfrm>
            <a:off x="548640" y="1508760"/>
            <a:ext cx="11064240" cy="96012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691640"/>
            <a:ext cx="594360" cy="594360"/>
          </a:xfrm>
          <a:prstGeom prst="ellipse">
            <a:avLst/>
          </a:prstGeom>
          <a:solidFill>
            <a:srgbClr val="1B8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chemeClr val="bg1"/>
                </a:solidFill>
              </a:rPr>
              <a:t>1</a:t>
            </a:r>
          </a:p>
        </p:txBody>
      </p:sp>
      <p:sp>
        <p:nvSpPr>
          <p:cNvPr id="5" name="TextBox 4"/>
          <p:cNvSpPr txBox="1"/>
          <p:nvPr/>
        </p:nvSpPr>
        <p:spPr>
          <a:xfrm>
            <a:off x="1691640" y="1508760"/>
            <a:ext cx="9692640" cy="960120"/>
          </a:xfrm>
          <a:prstGeom prst="rect">
            <a:avLst/>
          </a:prstGeom>
          <a:noFill/>
        </p:spPr>
        <p:txBody>
          <a:bodyPr wrap="square" lIns="0" rIns="0" tIns="0" bIns="0" anchor="ctr">
            <a:spAutoFit/>
          </a:bodyPr>
          <a:lstStyle/>
          <a:p>
            <a:r>
              <a:rPr sz="2000" b="1">
                <a:solidFill>
                  <a:schemeClr val="tx1"/>
                </a:solidFill>
              </a:rPr>
              <a:t>A more professional, user-friendly interface</a:t>
            </a:r>
          </a:p>
          <a:p>
            <a:pPr>
              <a:spcBef>
                <a:spcPts val="400"/>
              </a:spcBef>
            </a:pPr>
            <a:r>
              <a:rPr sz="1500">
                <a:solidFill>
                  <a:schemeClr val="tx2"/>
                </a:solidFill>
              </a:rPr>
              <a:t>A cleaner, more polished design that is easy to use on every phone and laptop.</a:t>
            </a:r>
          </a:p>
        </p:txBody>
      </p:sp>
      <p:sp>
        <p:nvSpPr>
          <p:cNvPr id="6" name="Rounded Rectangle 5"/>
          <p:cNvSpPr/>
          <p:nvPr/>
        </p:nvSpPr>
        <p:spPr>
          <a:xfrm>
            <a:off x="548640" y="2606040"/>
            <a:ext cx="11064240" cy="96012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788920"/>
            <a:ext cx="594360" cy="594360"/>
          </a:xfrm>
          <a:prstGeom prst="ellipse">
            <a:avLst/>
          </a:prstGeom>
          <a:solidFill>
            <a:srgbClr val="1B8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chemeClr val="bg1"/>
                </a:solidFill>
              </a:rPr>
              <a:t>2</a:t>
            </a:r>
          </a:p>
        </p:txBody>
      </p:sp>
      <p:sp>
        <p:nvSpPr>
          <p:cNvPr id="8" name="TextBox 7"/>
          <p:cNvSpPr txBox="1"/>
          <p:nvPr/>
        </p:nvSpPr>
        <p:spPr>
          <a:xfrm>
            <a:off x="1691640" y="2606040"/>
            <a:ext cx="9692640" cy="960120"/>
          </a:xfrm>
          <a:prstGeom prst="rect">
            <a:avLst/>
          </a:prstGeom>
          <a:noFill/>
        </p:spPr>
        <p:txBody>
          <a:bodyPr wrap="square" lIns="0" rIns="0" tIns="0" bIns="0" anchor="ctr">
            <a:spAutoFit/>
          </a:bodyPr>
          <a:lstStyle/>
          <a:p>
            <a:r>
              <a:rPr sz="2000" b="1">
                <a:solidFill>
                  <a:schemeClr val="tx1"/>
                </a:solidFill>
              </a:rPr>
              <a:t>Exact specifications for every selected model</a:t>
            </a:r>
          </a:p>
          <a:p>
            <a:pPr>
              <a:spcBef>
                <a:spcPts val="400"/>
              </a:spcBef>
            </a:pPr>
            <a:r>
              <a:rPr sz="1500">
                <a:solidFill>
                  <a:schemeClr val="tx2"/>
                </a:solidFill>
              </a:rPr>
              <a:t>Full interior and exterior details added for each and every car we list.</a:t>
            </a:r>
          </a:p>
        </p:txBody>
      </p:sp>
      <p:sp>
        <p:nvSpPr>
          <p:cNvPr id="9" name="Rounded Rectangle 8"/>
          <p:cNvSpPr/>
          <p:nvPr/>
        </p:nvSpPr>
        <p:spPr>
          <a:xfrm>
            <a:off x="548640" y="3703320"/>
            <a:ext cx="11064240" cy="96012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3886200"/>
            <a:ext cx="594360" cy="594360"/>
          </a:xfrm>
          <a:prstGeom prst="ellipse">
            <a:avLst/>
          </a:prstGeom>
          <a:solidFill>
            <a:srgbClr val="1B8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chemeClr val="bg1"/>
                </a:solidFill>
              </a:rPr>
              <a:t>3</a:t>
            </a:r>
          </a:p>
        </p:txBody>
      </p:sp>
      <p:sp>
        <p:nvSpPr>
          <p:cNvPr id="11" name="TextBox 10"/>
          <p:cNvSpPr txBox="1"/>
          <p:nvPr/>
        </p:nvSpPr>
        <p:spPr>
          <a:xfrm>
            <a:off x="1691640" y="3703320"/>
            <a:ext cx="9692640" cy="960120"/>
          </a:xfrm>
          <a:prstGeom prst="rect">
            <a:avLst/>
          </a:prstGeom>
          <a:noFill/>
        </p:spPr>
        <p:txBody>
          <a:bodyPr wrap="square" lIns="0" rIns="0" tIns="0" bIns="0" anchor="ctr">
            <a:spAutoFit/>
          </a:bodyPr>
          <a:lstStyle/>
          <a:p>
            <a:r>
              <a:rPr sz="2000" b="1">
                <a:solidFill>
                  <a:schemeClr val="tx1"/>
                </a:solidFill>
              </a:rPr>
              <a:t>New bookings alert the admin</a:t>
            </a:r>
          </a:p>
          <a:p>
            <a:pPr>
              <a:spcBef>
                <a:spcPts val="400"/>
              </a:spcBef>
            </a:pPr>
            <a:r>
              <a:rPr sz="1500">
                <a:solidFill>
                  <a:schemeClr val="tx2"/>
                </a:solidFill>
              </a:rPr>
              <a:t>When a customer books a test drive or buys a car, the saved details appear on the admin dashboard as a new, unchecked notification.</a:t>
            </a:r>
          </a:p>
        </p:txBody>
      </p:sp>
      <p:sp>
        <p:nvSpPr>
          <p:cNvPr id="12" name="Rounded Rectangle 11"/>
          <p:cNvSpPr/>
          <p:nvPr/>
        </p:nvSpPr>
        <p:spPr>
          <a:xfrm>
            <a:off x="548640" y="4800600"/>
            <a:ext cx="11064240" cy="960120"/>
          </a:xfrm>
          <a:prstGeom prst="roundRect">
            <a:avLst>
              <a:gd name="adj" fmla="val 12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4983480"/>
            <a:ext cx="594360" cy="594360"/>
          </a:xfrm>
          <a:prstGeom prst="ellipse">
            <a:avLst/>
          </a:prstGeom>
          <a:solidFill>
            <a:srgbClr val="1B8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chemeClr val="bg1"/>
                </a:solidFill>
              </a:rPr>
              <a:t>4</a:t>
            </a:r>
          </a:p>
        </p:txBody>
      </p:sp>
      <p:sp>
        <p:nvSpPr>
          <p:cNvPr id="14" name="TextBox 13"/>
          <p:cNvSpPr txBox="1"/>
          <p:nvPr/>
        </p:nvSpPr>
        <p:spPr>
          <a:xfrm>
            <a:off x="1691640" y="4800600"/>
            <a:ext cx="9692640" cy="960120"/>
          </a:xfrm>
          <a:prstGeom prst="rect">
            <a:avLst/>
          </a:prstGeom>
          <a:noFill/>
        </p:spPr>
        <p:txBody>
          <a:bodyPr wrap="square" lIns="0" rIns="0" tIns="0" bIns="0" anchor="ctr">
            <a:spAutoFit/>
          </a:bodyPr>
          <a:lstStyle/>
          <a:p>
            <a:r>
              <a:rPr sz="2000" b="1">
                <a:solidFill>
                  <a:schemeClr val="tx1"/>
                </a:solidFill>
              </a:rPr>
              <a:t>Instant notifications for customers</a:t>
            </a:r>
          </a:p>
          <a:p>
            <a:pPr>
              <a:spcBef>
                <a:spcPts val="400"/>
              </a:spcBef>
            </a:pPr>
            <a:r>
              <a:rPr sz="1500">
                <a:solidFill>
                  <a:schemeClr val="tx2"/>
                </a:solidFill>
              </a:rPr>
              <a:t>When a customer makes a booking, a notification pops up on their side straight away.</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8"/>
                </a:solidFill>
              </a:defRPr>
            </a:lvl1pPr>
          </a:lstStyle>
          <a:p>
            <a:pPr algn="r"/>
            <a:fld id="{F7021451-1387-4CA6-816F-3879F97B5CBC}" type="slidenum">
              <a:rPr b="0" lang="en-US"/>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bg1"/>
                </a:solidFill>
              </a:rPr>
              <a:t>Let's put your brand in front of more buyers</a:t>
            </a:r>
            <a:endParaRPr lang="en-US" sz="3400" dirty="0"/>
          </a:p>
        </p:txBody>
      </p:sp>
      <p:sp>
        <p:nvSpPr>
          <p:cNvPr id="3" name="Text 1"/>
          <p:cNvSpPr txBox="1"/>
          <p:nvPr/>
        </p:nvSpPr>
        <p:spPr>
          <a:xfrm>
            <a:off x="2194560" y="1645920"/>
            <a:ext cx="6035040" cy="1371600"/>
          </a:xfrm>
          <a:prstGeom prst="rect">
            <a:avLst/>
          </a:prstGeom>
          <a:noFill/>
          <a:ln/>
        </p:spPr>
        <p:txBody>
          <a:bodyPr wrap="square" lIns="0" tIns="0" rIns="0" bIns="0" rtlCol="0" anchor="t"/>
          <a:lstStyle/>
          <a:p>
            <a:pPr indent="0" marL="0">
              <a:buNone/>
            </a:pPr>
            <a:r>
              <a:rPr lang="en-US" sz="3000" b="1" dirty="0">
                <a:solidFill>
                  <a:schemeClr val="accent1"/>
                </a:solidFill>
              </a:rPr>
              <a:t>We would like your permission to list and sell your company cars on VirtualDrive.</a:t>
            </a:r>
            <a:endParaRPr lang="en-US" sz="3000" dirty="0"/>
          </a:p>
        </p:txBody>
      </p:sp>
      <p:sp>
        <p:nvSpPr>
          <p:cNvPr id="4" name="closing car frame"/>
          <p:cNvSpPr/>
          <p:nvPr/>
        </p:nvSpPr>
        <p:spPr>
          <a:xfrm>
            <a:off x="8412480" y="3840480"/>
            <a:ext cx="3200400" cy="2194560"/>
          </a:xfrm>
          <a:prstGeom prst="roundRect">
            <a:avLst>
              <a:gd name="adj" fmla="val 5833"/>
            </a:avLst>
          </a:prstGeom>
          <a:solidFill>
            <a:schemeClr val="bg1"/>
          </a:solidFill>
          <a:ln w="12700">
            <a:solidFill>
              <a:schemeClr val="bg1"/>
            </a:solidFill>
            <a:prstDash val="solid"/>
          </a:ln>
        </p:spPr>
        <p:txBody>
          <a:bodyPr/>
          <a:p/>
        </p:txBody>
      </p:sp>
      <p:pic>
        <p:nvPicPr>
          <p:cNvPr id="5" name="closing car" descr="Front view of a car from the 360 degree viewer">    </p:cNvPr>
          <p:cNvPicPr>
            <a:picLocks noChangeAspect="1"/>
          </p:cNvPicPr>
          <p:nvPr/>
        </p:nvPicPr>
        <p:blipFill>
          <a:blip r:embed="rId1"/>
          <a:srcRect l="0" r="0" t="0" b="0"/>
          <a:stretch/>
        </p:blipFill>
        <p:spPr>
          <a:xfrm>
            <a:off x="8503920" y="3931920"/>
            <a:ext cx="3017520" cy="201168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2B9"/>
                </a:solidFill>
              </a:defRPr>
            </a:lvl1pPr>
          </a:lstStyle>
          <a:p>
            <a:pPr algn="r"/>
            <a:fld id="{F7021451-1387-4CA6-816F-3879F97B5CBC}" type="slidenum">
              <a:rPr b="0" lang="en-US"/>
              <a:t>17</a:t>
            </a:fld>
            <a:endParaRPr lang="en-US"/>
          </a:p>
        </p:txBody>
      </p:sp>
      <p:sp>
        <p:nvSpPr>
          <p:cNvPr id="26" name="Oval 25"/>
          <p:cNvSpPr/>
          <p:nvPr/>
        </p:nvSpPr>
        <p:spPr>
          <a:xfrm>
            <a:off x="548640" y="1645920"/>
            <a:ext cx="1371600" cy="1371600"/>
          </a:xfrm>
          <a:prstGeom prst="ellipse">
            <a:avLst/>
          </a:prstGeom>
          <a:solidFill>
            <a:schemeClr val="accent1"/>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3840480"/>
            <a:ext cx="3771900" cy="86868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840480"/>
            <a:ext cx="3451860" cy="868680"/>
          </a:xfrm>
          <a:prstGeom prst="rect">
            <a:avLst/>
          </a:prstGeom>
          <a:noFill/>
        </p:spPr>
        <p:txBody>
          <a:bodyPr wrap="square" lIns="0" rIns="0" tIns="0" bIns="0" anchor="ctr">
            <a:spAutoFit/>
          </a:bodyPr>
          <a:lstStyle/>
          <a:p>
            <a:r>
              <a:rPr sz="2600" b="1">
                <a:solidFill>
                  <a:schemeClr val="accent1"/>
                </a:solidFill>
              </a:rPr>
              <a:t>₹0</a:t>
            </a:r>
          </a:p>
          <a:p>
            <a:r>
              <a:rPr sz="1400">
                <a:solidFill>
                  <a:schemeClr val="bg1"/>
                </a:solidFill>
              </a:rPr>
              <a:t>Processing cost</a:t>
            </a:r>
          </a:p>
        </p:txBody>
      </p:sp>
      <p:sp>
        <p:nvSpPr>
          <p:cNvPr id="30" name="Rounded Rectangle 29"/>
          <p:cNvSpPr/>
          <p:nvPr/>
        </p:nvSpPr>
        <p:spPr>
          <a:xfrm>
            <a:off x="4457700" y="3840480"/>
            <a:ext cx="3771900" cy="86868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6300" y="3840480"/>
            <a:ext cx="3451860" cy="868680"/>
          </a:xfrm>
          <a:prstGeom prst="rect">
            <a:avLst/>
          </a:prstGeom>
          <a:noFill/>
        </p:spPr>
        <p:txBody>
          <a:bodyPr wrap="square" lIns="0" rIns="0" tIns="0" bIns="0" anchor="ctr">
            <a:spAutoFit/>
          </a:bodyPr>
          <a:lstStyle/>
          <a:p>
            <a:r>
              <a:rPr sz="2600" b="1">
                <a:solidFill>
                  <a:schemeClr val="accent1"/>
                </a:solidFill>
              </a:rPr>
              <a:t>₹10,000</a:t>
            </a:r>
          </a:p>
          <a:p>
            <a:r>
              <a:rPr sz="1400">
                <a:solidFill>
                  <a:schemeClr val="bg1"/>
                </a:solidFill>
              </a:rPr>
              <a:t>To book your car</a:t>
            </a:r>
          </a:p>
        </p:txBody>
      </p:sp>
      <p:sp>
        <p:nvSpPr>
          <p:cNvPr id="32" name="Rounded Rectangle 31"/>
          <p:cNvSpPr/>
          <p:nvPr/>
        </p:nvSpPr>
        <p:spPr>
          <a:xfrm>
            <a:off x="548640" y="4846320"/>
            <a:ext cx="3771900" cy="86868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846320"/>
            <a:ext cx="3451860" cy="868680"/>
          </a:xfrm>
          <a:prstGeom prst="rect">
            <a:avLst/>
          </a:prstGeom>
          <a:noFill/>
        </p:spPr>
        <p:txBody>
          <a:bodyPr wrap="square" lIns="0" rIns="0" tIns="0" bIns="0" anchor="ctr">
            <a:spAutoFit/>
          </a:bodyPr>
          <a:lstStyle/>
          <a:p>
            <a:r>
              <a:rPr sz="2600" b="1">
                <a:solidFill>
                  <a:schemeClr val="accent1"/>
                </a:solidFill>
              </a:rPr>
              <a:t>360°</a:t>
            </a:r>
          </a:p>
          <a:p>
            <a:r>
              <a:rPr sz="1400">
                <a:solidFill>
                  <a:schemeClr val="bg1"/>
                </a:solidFill>
              </a:rPr>
              <a:t>Views and colours online</a:t>
            </a:r>
          </a:p>
        </p:txBody>
      </p:sp>
      <p:sp>
        <p:nvSpPr>
          <p:cNvPr id="34" name="Rounded Rectangle 33"/>
          <p:cNvSpPr/>
          <p:nvPr/>
        </p:nvSpPr>
        <p:spPr>
          <a:xfrm>
            <a:off x="4457700" y="4846320"/>
            <a:ext cx="3771900" cy="86868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86300" y="4846320"/>
            <a:ext cx="3451860" cy="868680"/>
          </a:xfrm>
          <a:prstGeom prst="rect">
            <a:avLst/>
          </a:prstGeom>
          <a:noFill/>
        </p:spPr>
        <p:txBody>
          <a:bodyPr wrap="square" lIns="0" rIns="0" tIns="0" bIns="0" anchor="ctr">
            <a:spAutoFit/>
          </a:bodyPr>
          <a:lstStyle/>
          <a:p>
            <a:r>
              <a:rPr sz="2600" b="1">
                <a:solidFill>
                  <a:schemeClr val="accent1"/>
                </a:solidFill>
              </a:rPr>
              <a:t>24/7</a:t>
            </a:r>
          </a:p>
          <a:p>
            <a:r>
              <a:rPr sz="1400">
                <a:solidFill>
                  <a:schemeClr val="bg1"/>
                </a:solidFill>
              </a:rPr>
              <a:t>A showroom that never closes</a:t>
            </a:r>
          </a:p>
        </p:txBody>
      </p:sp>
      <p:pic>
        <p:nvPicPr>
          <p:cNvPr id="36" name="handshake icon" descr="Handshake icon"/>
          <p:cNvPicPr>
            <a:picLocks noChangeAspect="1"/>
          </p:cNvPicPr>
          <p:nvPr/>
        </p:nvPicPr>
        <p:blipFill>
          <a:blip r:embed="rId5"/>
          <a:stretch>
            <a:fillRect/>
          </a:stretch>
        </p:blipFill>
        <p:spPr>
          <a:xfrm>
            <a:off x="822960" y="1920240"/>
            <a:ext cx="822960" cy="822960"/>
          </a:xfrm>
          <a:prstGeom prst="rect">
            <a:avLst/>
          </a:prstGeom>
        </p:spPr>
      </p:pic>
    </p:spTree>
  </p:cSld>
  <p:clrMapOvr>
    <a:masterClrMapping/>
  </p:clrMapOvr>
</p:sld>
</file>

<file path=ppt/theme/theme1.xml><?xml version="1.0" encoding="utf-8"?>
<a:theme xmlns:a="http://schemas.openxmlformats.org/drawingml/2006/main" name="VirtualDrive Pitch">
  <a:themeElements>
    <a:clrScheme name="VirtualDrive Pitch">
      <a:dk1>
        <a:srgbClr val="0B2E25"/>
      </a:dk1>
      <a:lt1>
        <a:srgbClr val="FFFFFF"/>
      </a:lt1>
      <a:dk2>
        <a:srgbClr val="1B4D3E"/>
      </a:dk2>
      <a:lt2>
        <a:srgbClr val="EEF4F1"/>
      </a:lt2>
      <a:accent1>
        <a:srgbClr val="FFC629"/>
      </a:accent1>
      <a:accent2>
        <a:srgbClr val="1B8A6B"/>
      </a:accent2>
      <a:accent3>
        <a:srgbClr val="E4572E"/>
      </a:accent3>
      <a:accent4>
        <a:srgbClr val="6B7F78"/>
      </a:accent4>
      <a:accent5>
        <a:srgbClr val="2F6FDE"/>
      </a:accent5>
      <a:accent6>
        <a:srgbClr val="8A5CF6"/>
      </a:accent6>
      <a:hlink>
        <a:srgbClr val="1B8A6B"/>
      </a:hlink>
      <a:folHlink>
        <a:srgbClr val="6B7F78"/>
      </a:folHlink>
    </a:clrScheme>
    <a:fontScheme name="VirtualDrive Pi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VirtualDrive – Your cars, online</dc:title>
  <dc:subject>PptxGenJS Presentation</dc:subject>
  <dc:creator>VirtualDrive</dc:creator>
  <cp:lastModifiedBy>VirtualDrive</cp:lastModifiedBy>
  <cp:revision>1</cp:revision>
  <dcterms:created xsi:type="dcterms:W3CDTF">2026-10-22T12:11:02Z</dcterms:created>
  <dcterms:modified xsi:type="dcterms:W3CDTF">2026-10-22T12:11:02Z</dcterms:modified>
</cp:coreProperties>
</file>