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97ae9d1-04b6-df42-a5bb-65d5c80fac5a}">
          <p14:sldIdLst>
            <p14:sldId id="256"/>
            <p14:sldId id="257"/>
            <p14:sldId id="258"/>
          </p14:sldIdLst>
        </p14:section>
        <p14:section name="Architecture" id="{d36c11b8-b913-5965-4b2c-b7c87314b1dd}">
          <p14:sldIdLst>
            <p14:sldId id="259"/>
            <p14:sldId id="260"/>
            <p14:sldId id="261"/>
          </p14:sldIdLst>
        </p14:section>
        <p14:section name="Features" id="{ed9082bd-ae45-9f43-caef-fda14f78ff8b}">
          <p14:sldIdLst>
            <p14:sldId id="262"/>
            <p14:sldId id="263"/>
          </p14:sldIdLst>
        </p14:section>
        <p14:section name="Assessment" id="{14a663e5-511e-85c4-98d6-c1fdb057dfb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81F"/>
                </a:solidFill>
                <a:latin typeface="+mn-lt"/>
              </a:rPr>
              <a:t>Lines of TS/TSX by area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8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Components</c:v>
                  </c:pt>
                  <c:pt idx="1">
                    <c:v>Admin components</c:v>
                  </c:pt>
                  <c:pt idx="2">
                    <c:v>Pages</c:v>
                  </c:pt>
                  <c:pt idx="3">
                    <c:v>API routes</c:v>
                  </c:pt>
                  <c:pt idx="4">
                    <c:v>Lib helpers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2919</c:v>
                </c:pt>
                <c:pt idx="1">
                  <c:v>2075</c:v>
                </c:pt>
                <c:pt idx="2">
                  <c:v>1988</c:v>
                </c:pt>
                <c:pt idx="3">
                  <c:v>1053</c:v>
                </c:pt>
                <c:pt idx="4">
                  <c:v>805</c:v>
                </c:pt>
                <c:pt idx="5">
                  <c:v>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8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2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81F"/>
                </a:solidFill>
                <a:latin typeface="+mn-lt"/>
              </a:rPr>
              <a:t>API route files by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8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Admin</c:v>
                  </c:pt>
                  <c:pt idx="1">
                    <c:v>Auth</c:v>
                  </c:pt>
                  <c:pt idx="2">
                    <c:v>Catalog</c:v>
                  </c:pt>
                  <c:pt idx="3">
                    <c:v>Razorpay</c:v>
                  </c:pt>
                  <c:pt idx="4">
                    <c:v>Bookings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8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2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VirtualDrive is a Next.js app where customers browse cars, explore them in 360 degrees, book test drives and pay a booking amount, while admins manage the catalogue.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History: 23 commits between 21 Sep and 21 Oct 2026. Line count covers .ts and .tsx files tracked by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middleware or proxy file exists. Access control is enforced inside each page, layout or route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token finding: DashboardLayout and getAdminUser only call verifySessionToken on the admin_session cookie. The token format is identical to the user session token, so a logged-in customer's token validates as an admin. Fix by adding a role claim (or separate secret) and checking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 panel"/>
          <p:cNvSpPr/>
          <p:nvPr/>
        </p:nvSpPr>
        <p:spPr>
          <a:xfrm>
            <a:off x="6675120" y="548640"/>
            <a:ext cx="4983480" cy="5760720"/>
          </a:xfrm>
          <a:prstGeom prst="roundRect">
            <a:avLst>
              <a:gd name="adj" fmla="val 45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car photo" descr="Kia Sonet from the project catalog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148840"/>
            <a:ext cx="4709160" cy="2487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TEST-DRIVE &amp; CAR-BUYING PLATFORM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VirtualDrive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3B2"/>
                </a:solidFill>
              </a:rPr>
              <a:t>Project analysis: architecture, features, data model and next steps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60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</a:rPr>
              <a:t>car-demo  ·  Next.js 16  ·  React 19  ·  MongoDB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full-stack car showroom, built in about a month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0876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~9.3K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lines of TypeScript / TSX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64992" y="150876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93592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pages (customer + admin)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81344" y="150876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9944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route handlers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8997696" y="150876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26296" y="1691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MongoDB databases: users, catalogue, admin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side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6118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Browse brands and models, filter by body type, fuel and budget, spin a 360° view, recolour the car and book a test drive or pay a booking amount.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4805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separate dashboard to manage brands, models, variants and sub-variants, with its own login.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3492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Core flows work end to end. Open items are security hardening, tests and removing hard-coded demo content.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3" name="stack card 1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ck icon 1 bg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ack icon 1" descr="Fi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16.3.5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 Router, server components, route handlers</a:t>
            </a:r>
            <a:endParaRPr lang="en-US" sz="1400" dirty="0"/>
          </a:p>
        </p:txBody>
      </p:sp>
      <p:sp>
        <p:nvSpPr>
          <p:cNvPr id="8" name="stack card 2"/>
          <p:cNvSpPr/>
          <p:nvPr/>
        </p:nvSpPr>
        <p:spPr>
          <a:xfrm>
            <a:off x="429768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ack icon 2 bg"/>
          <p:cNvSpPr/>
          <p:nvPr/>
        </p:nvSpPr>
        <p:spPr>
          <a:xfrm>
            <a:off x="4572000" y="1828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stack icon 2" descr="Fi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34" y="1983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TypeScript 5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29 client components, typed catalogue models</a:t>
            </a:r>
            <a:endParaRPr lang="en-US" sz="1400" dirty="0"/>
          </a:p>
        </p:txBody>
      </p:sp>
      <p:sp>
        <p:nvSpPr>
          <p:cNvPr id="13" name="stack card 3"/>
          <p:cNvSpPr/>
          <p:nvPr/>
        </p:nvSpPr>
        <p:spPr>
          <a:xfrm>
            <a:off x="8046720" y="15544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ack icon 3 bg"/>
          <p:cNvSpPr/>
          <p:nvPr/>
        </p:nvSpPr>
        <p:spPr>
          <a:xfrm>
            <a:off x="8321040" y="18288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stack icon 3" descr="Fi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19833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 4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Utility styling via the PostCSS plugin</a:t>
            </a:r>
            <a:endParaRPr lang="en-US" sz="1400" dirty="0"/>
          </a:p>
        </p:txBody>
      </p:sp>
      <p:sp>
        <p:nvSpPr>
          <p:cNvPr id="18" name="stack card 4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ack icon 4 bg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stack icon 4" descr="Fi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driver 6.17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Direct driver, no ORM; indexes created in code</a:t>
            </a:r>
            <a:endParaRPr lang="en-US" sz="1400" dirty="0"/>
          </a:p>
        </p:txBody>
      </p:sp>
      <p:sp>
        <p:nvSpPr>
          <p:cNvPr id="23" name="stack card 5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ack icon 5 bg"/>
          <p:cNvSpPr/>
          <p:nvPr/>
        </p:nvSpPr>
        <p:spPr>
          <a:xfrm>
            <a:off x="4572000" y="406908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stack icon 5" descr="Fi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34" y="42236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bcryptjs + Node crypto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Password hashing and HMAC-signed sessions</a:t>
            </a:r>
            <a:endParaRPr lang="en-US" sz="1400" dirty="0"/>
          </a:p>
        </p:txBody>
      </p:sp>
      <p:sp>
        <p:nvSpPr>
          <p:cNvPr id="28" name="stack card 6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tack icon 6 bg"/>
          <p:cNvSpPr/>
          <p:nvPr/>
        </p:nvSpPr>
        <p:spPr>
          <a:xfrm>
            <a:off x="8321040" y="40690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stack icon 6" descr="FiCreditC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42236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Razorpay (REST)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Orders API called with fetch, HMAC payment check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Also: lucide-react icons, ESLint 9 with eslint-config-next. Images come from /public and images.unsplash.com.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 at a glance</a:t>
            </a:r>
            <a:endParaRPr lang="en-US" sz="3400" dirty="0"/>
          </a:p>
        </p:txBody>
      </p:sp>
      <p:sp>
        <p:nvSpPr>
          <p:cNvPr id="3" name="Browser column"/>
          <p:cNvSpPr/>
          <p:nvPr/>
        </p:nvSpPr>
        <p:spPr>
          <a:xfrm>
            <a:off x="548640" y="1554480"/>
            <a:ext cx="3017520" cy="35661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Server-rendered 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29 client components: navbar, forms, 360° viewer, checkout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Razorpay checkout widget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httpOnly session cookies</a:t>
            </a:r>
            <a:endParaRPr lang="en-US" sz="1400" dirty="0"/>
          </a:p>
        </p:txBody>
      </p:sp>
      <p:sp>
        <p:nvSpPr>
          <p:cNvPr id="6" name="Next.js app (app/) column"/>
          <p:cNvSpPr/>
          <p:nvPr/>
        </p:nvSpPr>
        <p:spPr>
          <a:xfrm>
            <a:off x="4069080" y="1554480"/>
            <a:ext cx="4023360" cy="356616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2976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app (app/)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2402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22 pages in the App Router, catalogue pages query MongoDB directly (force-dynamic)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 route handlers: /api/auth, /api/admin, /api/catalog, /api/bookings, /api/razorpay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app/lib: auth, bookings, Mongo clients, 360° and recolour helpers</a:t>
            </a:r>
            <a:endParaRPr lang="en-US" sz="1400" dirty="0"/>
          </a:p>
        </p:txBody>
      </p:sp>
      <p:sp>
        <p:nvSpPr>
          <p:cNvPr id="9" name="External services column"/>
          <p:cNvSpPr/>
          <p:nvPr/>
        </p:nvSpPr>
        <p:spPr>
          <a:xfrm>
            <a:off x="8595360" y="1554480"/>
            <a:ext cx="3017520" cy="35661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2396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23960" y="22402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MongoDB: users db, catalogue db, admin 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Razorpay: order creation and signature 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Unsplash: remote images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3611880" y="3108960"/>
            <a:ext cx="41148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low arrow"/>
          <p:cNvSpPr/>
          <p:nvPr/>
        </p:nvSpPr>
        <p:spPr>
          <a:xfrm>
            <a:off x="8138160" y="3108960"/>
            <a:ext cx="41148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customer journey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icon 1 bg"/>
          <p:cNvSpPr/>
          <p:nvPr/>
        </p:nvSpPr>
        <p:spPr>
          <a:xfrm>
            <a:off x="731520" y="205740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5" name="step icon 1" descr="Fi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22119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Home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337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Hero, trust strip, FAQ, inventory carousel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tep card 2"/>
          <p:cNvSpPr/>
          <p:nvPr/>
        </p:nvSpPr>
        <p:spPr>
          <a:xfrm>
            <a:off x="278892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ep icon 2 bg"/>
          <p:cNvSpPr/>
          <p:nvPr/>
        </p:nvSpPr>
        <p:spPr>
          <a:xfrm>
            <a:off x="2971800" y="205740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11" name="step icon 2" descr="Fi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3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71800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Browse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3337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/cars with brand, type, fuel, budget and search filters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tep card 3"/>
          <p:cNvSpPr/>
          <p:nvPr/>
        </p:nvSpPr>
        <p:spPr>
          <a:xfrm>
            <a:off x="502920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icon 3 bg"/>
          <p:cNvSpPr/>
          <p:nvPr/>
        </p:nvSpPr>
        <p:spPr>
          <a:xfrm>
            <a:off x="5212080" y="205740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17" name="step icon 3" descr="FiRotateC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614" y="22119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2080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Explore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3337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Gallery, 360° viewer and live colour preview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04088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step card 4"/>
          <p:cNvSpPr/>
          <p:nvPr/>
        </p:nvSpPr>
        <p:spPr>
          <a:xfrm>
            <a:off x="726948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tep icon 4 bg"/>
          <p:cNvSpPr/>
          <p:nvPr/>
        </p:nvSpPr>
        <p:spPr>
          <a:xfrm>
            <a:off x="7452360" y="205740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23" name="step icon 4" descr="FiSlid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894" y="22119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52360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Configure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452360" y="3337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Variant and sub-variant, colour choice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27" name="step card 5"/>
          <p:cNvSpPr/>
          <p:nvPr/>
        </p:nvSpPr>
        <p:spPr>
          <a:xfrm>
            <a:off x="950976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tep icon 5 bg"/>
          <p:cNvSpPr/>
          <p:nvPr/>
        </p:nvSpPr>
        <p:spPr>
          <a:xfrm>
            <a:off x="9692640" y="205740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9" name="step icon 5" descr="Fi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174" y="221193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92640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Commit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692640" y="3337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drive form, or ₹1,000 booking via Razorpay</a:t>
            </a:r>
            <a:endParaRPr lang="en-US" sz="1400" dirty="0"/>
          </a:p>
        </p:txBody>
      </p:sp>
      <p:sp>
        <p:nvSpPr>
          <p:cNvPr id="32" name="guard note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Guard rails: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login is required to book; a user cannot book the same variant twice with the same action, and the Razorpay order is refused before payment if it would be a duplicate.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model</a:t>
            </a:r>
            <a:endParaRPr lang="en-US" sz="3400" dirty="0"/>
          </a:p>
        </p:txBody>
      </p:sp>
      <p:sp>
        <p:nvSpPr>
          <p:cNvPr id="3" name="entity Brand"/>
          <p:cNvSpPr/>
          <p:nvPr/>
        </p:nvSpPr>
        <p:spPr>
          <a:xfrm>
            <a:off x="548640" y="1463040"/>
            <a:ext cx="60350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38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</a:rPr>
              <a:t>name, slug, logo, sales and service-centre counts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▼</a:t>
            </a:r>
            <a:endParaRPr lang="en-US" sz="900" dirty="0"/>
          </a:p>
        </p:txBody>
      </p:sp>
      <p:sp>
        <p:nvSpPr>
          <p:cNvPr id="7" name="entity Model"/>
          <p:cNvSpPr/>
          <p:nvPr/>
        </p:nvSpPr>
        <p:spPr>
          <a:xfrm>
            <a:off x="548640" y="2542032"/>
            <a:ext cx="6035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type, fuels, price range, specs, dimensions, images, brochure, published flag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4381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entity Variant"/>
          <p:cNvSpPr/>
          <p:nvPr/>
        </p:nvSpPr>
        <p:spPr>
          <a:xfrm>
            <a:off x="548640" y="3621024"/>
            <a:ext cx="6035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730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96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fuel, transmission, price, specs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5171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entity Sub-variant"/>
          <p:cNvSpPr/>
          <p:nvPr/>
        </p:nvSpPr>
        <p:spPr>
          <a:xfrm>
            <a:off x="548640" y="4700016"/>
            <a:ext cx="6035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8097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Sub-variant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755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engine, paint, colours, price override (embedded in Variant)</a:t>
            </a:r>
            <a:endParaRPr lang="en-US" sz="1300" dirty="0"/>
          </a:p>
        </p:txBody>
      </p:sp>
      <p:sp>
        <p:nvSpPr>
          <p:cNvPr id="18" name="users entity"/>
          <p:cNvSpPr/>
          <p:nvPr/>
        </p:nvSpPr>
        <p:spPr>
          <a:xfrm>
            <a:off x="7040880" y="1463040"/>
            <a:ext cx="4572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(own database)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0574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Unique email index, bcrypt password hash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Embedded bookings[]: action, reference, car, contact, date, time, location, paymentId</a:t>
            </a:r>
            <a:endParaRPr lang="en-US" sz="1400" dirty="0"/>
          </a:p>
        </p:txBody>
      </p:sp>
      <p:sp>
        <p:nvSpPr>
          <p:cNvPr id="21" name="admins entity"/>
          <p:cNvSpPr/>
          <p:nvPr/>
        </p:nvSpPr>
        <p:spPr>
          <a:xfrm>
            <a:off x="7040880" y="3611880"/>
            <a:ext cx="4572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 (own database)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206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Separate collection and cookie; passwords hashed with bcrypt.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Catalogue collections are linked by string ids (brandId, modelId), with unique slug indexes on brands and models.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Standout features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55448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eature icon 1 bg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feature icon 1" descr="FiRotate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0528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 viewer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38 Brezza frames are discovered on the server from public/carImages and scrubbed on a canvas.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6172200" y="155448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feature icon 2 bg"/>
          <p:cNvSpPr/>
          <p:nvPr/>
        </p:nvSpPr>
        <p:spPr>
          <a:xfrm>
            <a:off x="6446520" y="1874520"/>
            <a:ext cx="685800" cy="685800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pic>
        <p:nvPicPr>
          <p:cNvPr id="10" name="feature icon 2" descr="FiDrop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0528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In-browser recolour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Body-coloured pixels are repainted per chosen colour, with a second tone for the roof on dual-tone cars.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548640" y="37490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feature icon 3 bg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5" name="feature icon 3" descr="Fi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2473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069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duplicate guard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updateOne with $not/$elemMatch pushes a booking, so two simultaneous requests cannot both save.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6172200" y="37490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feature icon 4 bg"/>
          <p:cNvSpPr/>
          <p:nvPr/>
        </p:nvSpPr>
        <p:spPr>
          <a:xfrm>
            <a:off x="6446520" y="40690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feature icon 4" descr="Fi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42473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4069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and mega menu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36092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notification dropdown and a brand-aware inventory mega menu in a 500-line navbar.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Admin dashboard</a:t>
            </a:r>
            <a:endParaRPr lang="en-US" sz="3400" dirty="0"/>
          </a:p>
        </p:txBody>
      </p:sp>
      <p:sp>
        <p:nvSpPr>
          <p:cNvPr id="3" name="admin row Brands"/>
          <p:cNvSpPr/>
          <p:nvPr/>
        </p:nvSpPr>
        <p:spPr>
          <a:xfrm>
            <a:off x="548640" y="1463040"/>
            <a:ext cx="676656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910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59105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Create, edit and delete; logo, established year, sales and service-centre figures</a:t>
            </a:r>
            <a:endParaRPr lang="en-US" sz="1400" dirty="0"/>
          </a:p>
        </p:txBody>
      </p:sp>
      <p:sp>
        <p:nvSpPr>
          <p:cNvPr id="6" name="admin row Models"/>
          <p:cNvSpPr/>
          <p:nvPr/>
        </p:nvSpPr>
        <p:spPr>
          <a:xfrm>
            <a:off x="548640" y="2560320"/>
            <a:ext cx="676656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68833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6883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398-line form: segment, drivetrain, dimensions, capacity, images, brochure, publish toggle</a:t>
            </a:r>
            <a:endParaRPr lang="en-US" sz="1400" dirty="0"/>
          </a:p>
        </p:txBody>
      </p:sp>
      <p:sp>
        <p:nvSpPr>
          <p:cNvPr id="9" name="admin row Variants"/>
          <p:cNvSpPr/>
          <p:nvPr/>
        </p:nvSpPr>
        <p:spPr>
          <a:xfrm>
            <a:off x="548640" y="3657600"/>
            <a:ext cx="676656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78561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7856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Per-model variants with fuel, transmission, specs and price</a:t>
            </a:r>
            <a:endParaRPr lang="en-US" sz="1400" dirty="0"/>
          </a:p>
        </p:txBody>
      </p:sp>
      <p:sp>
        <p:nvSpPr>
          <p:cNvPr id="12" name="admin row Sub-variants"/>
          <p:cNvSpPr/>
          <p:nvPr/>
        </p:nvSpPr>
        <p:spPr>
          <a:xfrm>
            <a:off x="548640" y="4754880"/>
            <a:ext cx="676656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8828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Sub-variants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8828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Engine, paint, colours and price overrides edited inline</a:t>
            </a:r>
            <a:endParaRPr lang="en-US" sz="1400" dirty="0"/>
          </a:p>
        </p:txBody>
      </p:sp>
      <p:sp>
        <p:nvSpPr>
          <p:cNvPr id="15" name="admin routes"/>
          <p:cNvSpPr/>
          <p:nvPr/>
        </p:nvSpPr>
        <p:spPr>
          <a:xfrm>
            <a:off x="7680960" y="1463040"/>
            <a:ext cx="3931920" cy="420624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9552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14884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Route group app/admin/(dashboard) guarded in its layout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 admin API routes, each calling getAdminUser()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Separate admin_session cookie and admins collection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Breadcrumbs and drill-down: brand → model → variant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code lives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498080" y="137160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498080" y="47091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 is half the API: every catalogue write goes through it. Customer-facing reads are only 3 catalogue routes, because most pages query MongoDB directly on the server.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done well</a:t>
            </a:r>
            <a:endParaRPr lang="en-US" sz="3400" dirty="0"/>
          </a:p>
        </p:txBody>
      </p:sp>
      <p:sp>
        <p:nvSpPr>
          <p:cNvPr id="3" name="good row Sessions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good icon 1 bg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5" name="good icon 1" descr="Fi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554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HS256-signed tokens with a 7-day expiry, timing-safe signature check, httpOnly + sameSite cookies, secure in production.</a:t>
            </a:r>
            <a:endParaRPr lang="en-US" sz="1400" dirty="0"/>
          </a:p>
        </p:txBody>
      </p:sp>
      <p:sp>
        <p:nvSpPr>
          <p:cNvPr id="8" name="good row Passwords"/>
          <p:cNvSpPr/>
          <p:nvPr/>
        </p:nvSpPr>
        <p:spPr>
          <a:xfrm>
            <a:off x="548640" y="2633472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good icon 2 bg"/>
          <p:cNvSpPr/>
          <p:nvPr/>
        </p:nvSpPr>
        <p:spPr>
          <a:xfrm>
            <a:off x="822960" y="2816352"/>
            <a:ext cx="640080" cy="6400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0" name="good icon 2" descr="Fi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9827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27249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272491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bcrypt hashing, with a 72-byte guard so long passwords cannot be silently truncated.</a:t>
            </a:r>
            <a:endParaRPr lang="en-US" sz="1400" dirty="0"/>
          </a:p>
        </p:txBody>
      </p:sp>
      <p:sp>
        <p:nvSpPr>
          <p:cNvPr id="13" name="good row Payments"/>
          <p:cNvSpPr/>
          <p:nvPr/>
        </p:nvSpPr>
        <p:spPr>
          <a:xfrm>
            <a:off x="548640" y="3803904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good icon 3 bg"/>
          <p:cNvSpPr/>
          <p:nvPr/>
        </p:nvSpPr>
        <p:spPr>
          <a:xfrm>
            <a:off x="822960" y="3986784"/>
            <a:ext cx="640080" cy="6400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5" name="good icon 3" descr="Fi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153205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89534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389534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Server creates the order and verifies the HMAC signature; secrets never reach the client.</a:t>
            </a:r>
            <a:endParaRPr lang="en-US" sz="1400" dirty="0"/>
          </a:p>
        </p:txBody>
      </p:sp>
      <p:sp>
        <p:nvSpPr>
          <p:cNvPr id="18" name="good row Input handling"/>
          <p:cNvSpPr/>
          <p:nvPr/>
        </p:nvSpPr>
        <p:spPr>
          <a:xfrm>
            <a:off x="548640" y="4974336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good icon 4 bg"/>
          <p:cNvSpPr/>
          <p:nvPr/>
        </p:nvSpPr>
        <p:spPr>
          <a:xfrm>
            <a:off x="822960" y="5157216"/>
            <a:ext cx="640080" cy="6400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0" name="good icon 4" descr="FiEdit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323637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506577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handling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840480" y="506577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Request bodies are trimmed and length-capped through cleanString; JSON parse errors return 400.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Findings to fix first</a:t>
            </a:r>
            <a:endParaRPr lang="en-US" sz="3400" dirty="0"/>
          </a:p>
        </p:txBody>
      </p:sp>
      <p:sp>
        <p:nvSpPr>
          <p:cNvPr id="3" name="risk row 1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everity pill 1"/>
          <p:cNvSpPr/>
          <p:nvPr/>
        </p:nvSpPr>
        <p:spPr>
          <a:xfrm>
            <a:off x="822960" y="175564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become an admin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54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 /api/admin/signup has no invite code or existing-admin check.</a:t>
            </a:r>
            <a:endParaRPr lang="en-US" sz="1400" dirty="0"/>
          </a:p>
        </p:txBody>
      </p:sp>
      <p:sp>
        <p:nvSpPr>
          <p:cNvPr id="8" name="risk row 2"/>
          <p:cNvSpPr/>
          <p:nvPr/>
        </p:nvSpPr>
        <p:spPr>
          <a:xfrm>
            <a:off x="548640" y="2633472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everity pill 2"/>
          <p:cNvSpPr/>
          <p:nvPr/>
        </p:nvSpPr>
        <p:spPr>
          <a:xfrm>
            <a:off x="822960" y="292608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7249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and admin tokens are interchangeable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72491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Both are signed with the same secret and carry no role. A user can copy their session token into the admin_session cookie.</a:t>
            </a:r>
            <a:endParaRPr lang="en-US" sz="1400" dirty="0"/>
          </a:p>
        </p:txBody>
      </p:sp>
      <p:sp>
        <p:nvSpPr>
          <p:cNvPr id="13" name="risk row 3"/>
          <p:cNvSpPr/>
          <p:nvPr/>
        </p:nvSpPr>
        <p:spPr>
          <a:xfrm>
            <a:off x="548640" y="3803904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everity pill 3"/>
          <p:cNvSpPr/>
          <p:nvPr/>
        </p:nvSpPr>
        <p:spPr>
          <a:xfrm>
            <a:off x="822960" y="4096512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965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Medium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89534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verify trusts the client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895344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carId, carName and price come from the request body; the order is not matched to the car or amount.</a:t>
            </a:r>
            <a:endParaRPr lang="en-US" sz="1400" dirty="0"/>
          </a:p>
        </p:txBody>
      </p:sp>
      <p:sp>
        <p:nvSpPr>
          <p:cNvPr id="18" name="risk row 4"/>
          <p:cNvSpPr/>
          <p:nvPr/>
        </p:nvSpPr>
        <p:spPr>
          <a:xfrm>
            <a:off x="548640" y="4974336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everity pill 4"/>
          <p:cNvSpPr/>
          <p:nvPr/>
        </p:nvSpPr>
        <p:spPr>
          <a:xfrm>
            <a:off x="822960" y="5266944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669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50657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calls on every request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5065776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getXCollection() runs createIndex each time, and two separate MongoClient setups exist.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Other gaps</a:t>
            </a:r>
            <a:endParaRPr lang="en-US" sz="3400" dirty="0"/>
          </a:p>
        </p:txBody>
      </p:sp>
      <p:sp>
        <p:nvSpPr>
          <p:cNvPr id="3" name="gap card 1"/>
          <p:cNvSpPr/>
          <p:nvPr/>
        </p:nvSpPr>
        <p:spPr>
          <a:xfrm>
            <a:off x="548640" y="155448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gap icon 1 bg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5" name="gap icon 1" descr="FiAlert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56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automated tests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package.json has no test script and no test files are tracked.</a:t>
            </a:r>
            <a:endParaRPr lang="en-US" sz="1400" dirty="0"/>
          </a:p>
        </p:txBody>
      </p:sp>
      <p:sp>
        <p:nvSpPr>
          <p:cNvPr id="8" name="gap card 2"/>
          <p:cNvSpPr/>
          <p:nvPr/>
        </p:nvSpPr>
        <p:spPr>
          <a:xfrm>
            <a:off x="6172200" y="155448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gap icon 2 bg"/>
          <p:cNvSpPr/>
          <p:nvPr/>
        </p:nvSpPr>
        <p:spPr>
          <a:xfrm>
            <a:off x="6446520" y="182880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10" name="gap icon 2" descr="FiFile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1983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856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README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Still the create-next-app text: no setup steps or the required env vars (MONGODB_URI, MONGODB_DB, MONGODB_CATALOG_DB, MONGODB_ADMIN_DB, AUTH_SECRET, RAZORPAY_*).</a:t>
            </a:r>
            <a:endParaRPr lang="en-US" sz="1400" dirty="0"/>
          </a:p>
        </p:txBody>
      </p:sp>
      <p:sp>
        <p:nvSpPr>
          <p:cNvPr id="13" name="gap card 3"/>
          <p:cNvSpPr/>
          <p:nvPr/>
        </p:nvSpPr>
        <p:spPr>
          <a:xfrm>
            <a:off x="548640" y="37490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gap icon 3 bg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15" name="gap icon 3" descr="FiMap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1778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50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Hard-coded demo content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dedicated /maruti-suzuki/breeza page and Brezza-only 360° frames sit outside the catalogue.</a:t>
            </a:r>
            <a:endParaRPr lang="en-US" sz="1400" dirty="0"/>
          </a:p>
        </p:txBody>
      </p:sp>
      <p:sp>
        <p:nvSpPr>
          <p:cNvPr id="18" name="gap card 4"/>
          <p:cNvSpPr/>
          <p:nvPr/>
        </p:nvSpPr>
        <p:spPr>
          <a:xfrm>
            <a:off x="6172200" y="37490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gap icon 4 bg"/>
          <p:cNvSpPr/>
          <p:nvPr/>
        </p:nvSpPr>
        <p:spPr>
          <a:xfrm>
            <a:off x="6446520" y="4023360"/>
            <a:ext cx="594360" cy="594360"/>
          </a:xfrm>
          <a:prstGeom prst="ellipse">
            <a:avLst/>
          </a:prstGeom>
          <a:solidFill>
            <a:srgbClr val="2B323D"/>
          </a:solidFill>
          <a:ln w="12700">
            <a:solidFill>
              <a:srgbClr val="2B323D"/>
            </a:solidFill>
            <a:prstDash val="solid"/>
          </a:ln>
        </p:spPr>
      </p:sp>
      <p:pic>
        <p:nvPicPr>
          <p:cNvPr id="20" name="gap icon 4" descr="Fi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41778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4050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middleware or rate limiting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Login, signup and booking endpoints can be called without throttling.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Recommended next steps</a:t>
            </a:r>
            <a:endParaRPr lang="en-US" sz="3400" dirty="0"/>
          </a:p>
        </p:txBody>
      </p:sp>
      <p:sp>
        <p:nvSpPr>
          <p:cNvPr id="3" name="step number 1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down admin access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4173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Close open signup, add a role claim to tokens, check it in every admin entry point.</a:t>
            </a:r>
            <a:endParaRPr lang="en-US" sz="1400" dirty="0"/>
          </a:p>
        </p:txBody>
      </p:sp>
      <p:sp>
        <p:nvSpPr>
          <p:cNvPr id="7" name="step number 2"/>
          <p:cNvSpPr/>
          <p:nvPr/>
        </p:nvSpPr>
        <p:spPr>
          <a:xfrm>
            <a:off x="548640" y="2459736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59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6829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payments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368296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Store the order against the user and car at creation; verify against it instead of trusting the body.</a:t>
            </a:r>
            <a:endParaRPr lang="en-US" sz="1400" dirty="0"/>
          </a:p>
        </p:txBody>
      </p:sp>
      <p:sp>
        <p:nvSpPr>
          <p:cNvPr id="11" name="step number 3"/>
          <p:cNvSpPr/>
          <p:nvPr/>
        </p:nvSpPr>
        <p:spPr>
          <a:xfrm>
            <a:off x="548640" y="3410712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192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tests and a real README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31927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Cover auth, bookings and the duplicate guard; document env vars and seeding.</a:t>
            </a:r>
            <a:endParaRPr lang="en-US" sz="1400" dirty="0"/>
          </a:p>
        </p:txBody>
      </p:sp>
      <p:sp>
        <p:nvSpPr>
          <p:cNvPr id="15" name="step number 4"/>
          <p:cNvSpPr/>
          <p:nvPr/>
        </p:nvSpPr>
        <p:spPr>
          <a:xfrm>
            <a:off x="548640" y="4361688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61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02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 data access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27024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shared Mongo client, indexes created once at startup.</a:t>
            </a:r>
            <a:endParaRPr lang="en-US" sz="1400" dirty="0"/>
          </a:p>
        </p:txBody>
      </p:sp>
      <p:sp>
        <p:nvSpPr>
          <p:cNvPr id="19" name="step number 5"/>
          <p:cNvSpPr/>
          <p:nvPr/>
        </p:nvSpPr>
        <p:spPr>
          <a:xfrm>
            <a:off x="548640" y="5312664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312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2122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demo data-driven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522122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Move the Brezza page and 360° frames behind the catalogue.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foundation is solid; harden it before it faces users</a:t>
            </a:r>
            <a:endParaRPr lang="en-US" sz="3400" dirty="0"/>
          </a:p>
        </p:txBody>
      </p:sp>
      <p:sp>
        <p:nvSpPr>
          <p:cNvPr id="3" name="closing card 1"/>
          <p:cNvSpPr/>
          <p:nvPr/>
        </p:nvSpPr>
        <p:spPr>
          <a:xfrm>
            <a:off x="548640" y="21031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Clean separation of catalogue, users and admins; polished 360° and recolour features.</a:t>
            </a:r>
            <a:endParaRPr lang="en-US" sz="1600" dirty="0"/>
          </a:p>
        </p:txBody>
      </p:sp>
      <p:sp>
        <p:nvSpPr>
          <p:cNvPr id="6" name="closing card 2"/>
          <p:cNvSpPr/>
          <p:nvPr/>
        </p:nvSpPr>
        <p:spPr>
          <a:xfrm>
            <a:off x="4297680" y="21031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first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3063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Open admin signup and interchangeable tokens.</a:t>
            </a:r>
            <a:endParaRPr lang="en-US" sz="1600" dirty="0"/>
          </a:p>
        </p:txBody>
      </p:sp>
      <p:sp>
        <p:nvSpPr>
          <p:cNvPr id="9" name="closing card 3"/>
          <p:cNvSpPr/>
          <p:nvPr/>
        </p:nvSpPr>
        <p:spPr>
          <a:xfrm>
            <a:off x="8046720" y="21031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3063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Tests, README, shared data layer.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rtualDrive">
  <a:themeElements>
    <a:clrScheme name="VirtualDrive">
      <a:dk1>
        <a:srgbClr val="14181F"/>
      </a:dk1>
      <a:lt1>
        <a:srgbClr val="FFFFFF"/>
      </a:lt1>
      <a:dk2>
        <a:srgbClr val="2B323D"/>
      </a:dk2>
      <a:lt2>
        <a:srgbClr val="F1F2F4"/>
      </a:lt2>
      <a:accent1>
        <a:srgbClr val="E4572E"/>
      </a:accent1>
      <a:accent2>
        <a:srgbClr val="1F6F8B"/>
      </a:accent2>
      <a:accent3>
        <a:srgbClr val="F2A541"/>
      </a:accent3>
      <a:accent4>
        <a:srgbClr val="6B7280"/>
      </a:accent4>
      <a:accent5>
        <a:srgbClr val="2E9E6B"/>
      </a:accent5>
      <a:accent6>
        <a:srgbClr val="8A5CF6"/>
      </a:accent6>
      <a:hlink>
        <a:srgbClr val="1F6F8B"/>
      </a:hlink>
      <a:folHlink>
        <a:srgbClr val="6B7280"/>
      </a:folHlink>
    </a:clrScheme>
    <a:fontScheme name="VirtualDr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VirtualDrive – Project Analysis</dc:title>
  <dc:subject>PptxGenJS Presentation</dc:subject>
  <dc:creator>Polash</dc:creator>
  <cp:lastModifiedBy>Polash</cp:lastModifiedBy>
  <cp:revision>1</cp:revision>
  <dcterms:created xsi:type="dcterms:W3CDTF">2026-10-22T05:24:30Z</dcterms:created>
  <dcterms:modified xsi:type="dcterms:W3CDTF">2026-10-22T05:24:30Z</dcterms:modified>
</cp:coreProperties>
</file>